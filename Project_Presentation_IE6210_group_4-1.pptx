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4"/>
  </p:notesMasterIdLst>
  <p:sldIdLst>
    <p:sldId id="256" r:id="rId2"/>
    <p:sldId id="262" r:id="rId3"/>
    <p:sldId id="257" r:id="rId4"/>
    <p:sldId id="263" r:id="rId5"/>
    <p:sldId id="258" r:id="rId6"/>
    <p:sldId id="266" r:id="rId7"/>
    <p:sldId id="259" r:id="rId8"/>
    <p:sldId id="260" r:id="rId9"/>
    <p:sldId id="261" r:id="rId10"/>
    <p:sldId id="267" r:id="rId11"/>
    <p:sldId id="265"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42764-EC83-4AB7-9287-1DE469633D27}" type="datetimeFigureOut">
              <a:rPr lang="en-US" smtClean="0"/>
              <a:t>12/3/2019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E3829D-63B9-42FE-B317-75F5309C17F9}" type="slidenum">
              <a:rPr lang="en-US" smtClean="0"/>
              <a:t>‹#›</a:t>
            </a:fld>
            <a:endParaRPr lang="en-US"/>
          </a:p>
        </p:txBody>
      </p:sp>
    </p:spTree>
    <p:extLst>
      <p:ext uri="{BB962C8B-B14F-4D97-AF65-F5344CB8AC3E}">
        <p14:creationId xmlns:p14="http://schemas.microsoft.com/office/powerpoint/2010/main" val="50582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E3829D-63B9-42FE-B317-75F5309C17F9}" type="slidenum">
              <a:rPr lang="en-US" smtClean="0"/>
              <a:t>6</a:t>
            </a:fld>
            <a:endParaRPr lang="en-US"/>
          </a:p>
        </p:txBody>
      </p:sp>
    </p:spTree>
    <p:extLst>
      <p:ext uri="{BB962C8B-B14F-4D97-AF65-F5344CB8AC3E}">
        <p14:creationId xmlns:p14="http://schemas.microsoft.com/office/powerpoint/2010/main" val="4228759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08C187-0CF8-4615-AC33-6453C126185C}" type="datetimeFigureOut">
              <a:rPr lang="en-IN" smtClean="0"/>
              <a:t>03-12-2019</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62CEA3C-E046-4899-AD19-A1E5AFD73987}" type="slidenum">
              <a:rPr lang="en-IN" smtClean="0"/>
              <a:t>‹#›</a:t>
            </a:fld>
            <a:endParaRPr lang="en-IN"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2493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08C187-0CF8-4615-AC33-6453C126185C}" type="datetimeFigureOut">
              <a:rPr lang="en-IN" smtClean="0"/>
              <a:t>03-12-2019</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62CEA3C-E046-4899-AD19-A1E5AFD73987}" type="slidenum">
              <a:rPr lang="en-IN" smtClean="0"/>
              <a:t>‹#›</a:t>
            </a:fld>
            <a:endParaRPr lang="en-IN" dirty="0"/>
          </a:p>
        </p:txBody>
      </p:sp>
    </p:spTree>
    <p:extLst>
      <p:ext uri="{BB962C8B-B14F-4D97-AF65-F5344CB8AC3E}">
        <p14:creationId xmlns:p14="http://schemas.microsoft.com/office/powerpoint/2010/main" val="2067508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08C187-0CF8-4615-AC33-6453C126185C}" type="datetimeFigureOut">
              <a:rPr lang="en-IN" smtClean="0"/>
              <a:t>03-12-2019</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62CEA3C-E046-4899-AD19-A1E5AFD73987}" type="slidenum">
              <a:rPr lang="en-IN" smtClean="0"/>
              <a:t>‹#›</a:t>
            </a:fld>
            <a:endParaRPr lang="en-IN"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9645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08C187-0CF8-4615-AC33-6453C126185C}" type="datetimeFigureOut">
              <a:rPr lang="en-IN" smtClean="0"/>
              <a:t>03-12-2019</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162CEA3C-E046-4899-AD19-A1E5AFD73987}" type="slidenum">
              <a:rPr lang="en-IN" smtClean="0"/>
              <a:t>‹#›</a:t>
            </a:fld>
            <a:endParaRPr lang="en-IN" dirty="0"/>
          </a:p>
        </p:txBody>
      </p:sp>
    </p:spTree>
    <p:extLst>
      <p:ext uri="{BB962C8B-B14F-4D97-AF65-F5344CB8AC3E}">
        <p14:creationId xmlns:p14="http://schemas.microsoft.com/office/powerpoint/2010/main" val="4038728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08C187-0CF8-4615-AC33-6453C126185C}" type="datetimeFigureOut">
              <a:rPr lang="en-IN" smtClean="0"/>
              <a:t>03-12-2019</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162CEA3C-E046-4899-AD19-A1E5AFD73987}" type="slidenum">
              <a:rPr lang="en-IN" smtClean="0"/>
              <a:t>‹#›</a:t>
            </a:fld>
            <a:endParaRPr lang="en-IN" dirty="0"/>
          </a:p>
        </p:txBody>
      </p:sp>
    </p:spTree>
    <p:extLst>
      <p:ext uri="{BB962C8B-B14F-4D97-AF65-F5344CB8AC3E}">
        <p14:creationId xmlns:p14="http://schemas.microsoft.com/office/powerpoint/2010/main" val="1317065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08C187-0CF8-4615-AC33-6453C126185C}" type="datetimeFigureOut">
              <a:rPr lang="en-IN" smtClean="0"/>
              <a:t>03-12-2019</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162CEA3C-E046-4899-AD19-A1E5AFD73987}" type="slidenum">
              <a:rPr lang="en-IN" smtClean="0"/>
              <a:t>‹#›</a:t>
            </a:fld>
            <a:endParaRPr lang="en-IN" dirty="0"/>
          </a:p>
        </p:txBody>
      </p:sp>
    </p:spTree>
    <p:extLst>
      <p:ext uri="{BB962C8B-B14F-4D97-AF65-F5344CB8AC3E}">
        <p14:creationId xmlns:p14="http://schemas.microsoft.com/office/powerpoint/2010/main" val="3442047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708C187-0CF8-4615-AC33-6453C126185C}" type="datetimeFigureOut">
              <a:rPr lang="en-IN" smtClean="0"/>
              <a:t>03-12-2019</a:t>
            </a:fld>
            <a:endParaRPr lang="en-IN"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dirty="0"/>
          </a:p>
        </p:txBody>
      </p:sp>
      <p:sp>
        <p:nvSpPr>
          <p:cNvPr id="9" name="Slide Number Placeholder 8"/>
          <p:cNvSpPr>
            <a:spLocks noGrp="1"/>
          </p:cNvSpPr>
          <p:nvPr>
            <p:ph type="sldNum" sz="quarter" idx="12"/>
          </p:nvPr>
        </p:nvSpPr>
        <p:spPr/>
        <p:txBody>
          <a:bodyPr/>
          <a:lstStyle/>
          <a:p>
            <a:fld id="{162CEA3C-E046-4899-AD19-A1E5AFD73987}" type="slidenum">
              <a:rPr lang="en-IN" smtClean="0"/>
              <a:t>‹#›</a:t>
            </a:fld>
            <a:endParaRPr lang="en-IN" dirty="0"/>
          </a:p>
        </p:txBody>
      </p:sp>
    </p:spTree>
    <p:extLst>
      <p:ext uri="{BB962C8B-B14F-4D97-AF65-F5344CB8AC3E}">
        <p14:creationId xmlns:p14="http://schemas.microsoft.com/office/powerpoint/2010/main" val="3774087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708C187-0CF8-4615-AC33-6453C126185C}" type="datetimeFigureOut">
              <a:rPr lang="en-IN" smtClean="0"/>
              <a:t>03-12-2019</a:t>
            </a:fld>
            <a:endParaRPr lang="en-IN"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62CEA3C-E046-4899-AD19-A1E5AFD73987}" type="slidenum">
              <a:rPr lang="en-IN" smtClean="0"/>
              <a:t>‹#›</a:t>
            </a:fld>
            <a:endParaRPr lang="en-IN" dirty="0"/>
          </a:p>
        </p:txBody>
      </p:sp>
    </p:spTree>
    <p:extLst>
      <p:ext uri="{BB962C8B-B14F-4D97-AF65-F5344CB8AC3E}">
        <p14:creationId xmlns:p14="http://schemas.microsoft.com/office/powerpoint/2010/main" val="3523565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08C187-0CF8-4615-AC33-6453C126185C}" type="datetimeFigureOut">
              <a:rPr lang="en-IN" smtClean="0"/>
              <a:t>03-12-2019</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162CEA3C-E046-4899-AD19-A1E5AFD73987}" type="slidenum">
              <a:rPr lang="en-IN" smtClean="0"/>
              <a:t>‹#›</a:t>
            </a:fld>
            <a:endParaRPr lang="en-IN" dirty="0"/>
          </a:p>
        </p:txBody>
      </p:sp>
    </p:spTree>
    <p:extLst>
      <p:ext uri="{BB962C8B-B14F-4D97-AF65-F5344CB8AC3E}">
        <p14:creationId xmlns:p14="http://schemas.microsoft.com/office/powerpoint/2010/main" val="4167572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08C187-0CF8-4615-AC33-6453C126185C}" type="datetimeFigureOut">
              <a:rPr lang="en-IN" smtClean="0"/>
              <a:t>03-12-2019</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62CEA3C-E046-4899-AD19-A1E5AFD73987}" type="slidenum">
              <a:rPr lang="en-IN" smtClean="0"/>
              <a:t>‹#›</a:t>
            </a:fld>
            <a:endParaRPr lang="en-IN" dirty="0"/>
          </a:p>
        </p:txBody>
      </p:sp>
    </p:spTree>
    <p:extLst>
      <p:ext uri="{BB962C8B-B14F-4D97-AF65-F5344CB8AC3E}">
        <p14:creationId xmlns:p14="http://schemas.microsoft.com/office/powerpoint/2010/main" val="705423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08C187-0CF8-4615-AC33-6453C126185C}" type="datetimeFigureOut">
              <a:rPr lang="en-IN" smtClean="0"/>
              <a:t>03-12-2019</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162CEA3C-E046-4899-AD19-A1E5AFD73987}" type="slidenum">
              <a:rPr lang="en-IN" smtClean="0"/>
              <a:t>‹#›</a:t>
            </a:fld>
            <a:endParaRPr lang="en-IN" dirty="0"/>
          </a:p>
        </p:txBody>
      </p:sp>
    </p:spTree>
    <p:extLst>
      <p:ext uri="{BB962C8B-B14F-4D97-AF65-F5344CB8AC3E}">
        <p14:creationId xmlns:p14="http://schemas.microsoft.com/office/powerpoint/2010/main" val="2895048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708C187-0CF8-4615-AC33-6453C126185C}" type="datetimeFigureOut">
              <a:rPr lang="en-IN" smtClean="0"/>
              <a:t>03-12-2019</a:t>
            </a:fld>
            <a:endParaRPr lang="en-IN"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62CEA3C-E046-4899-AD19-A1E5AFD73987}" type="slidenum">
              <a:rPr lang="en-IN" smtClean="0"/>
              <a:t>‹#›</a:t>
            </a:fld>
            <a:endParaRPr lang="en-IN"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73524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10.emf"/><Relationship Id="rId5" Type="http://schemas.openxmlformats.org/officeDocument/2006/relationships/image" Target="../media/image4.emf"/><Relationship Id="rId10" Type="http://schemas.openxmlformats.org/officeDocument/2006/relationships/image" Target="../media/image9.emf"/><Relationship Id="rId4" Type="http://schemas.openxmlformats.org/officeDocument/2006/relationships/image" Target="../media/image3.emf"/><Relationship Id="rId9" Type="http://schemas.openxmlformats.org/officeDocument/2006/relationships/image" Target="../media/image8.emf"/></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ers.usda.gov/data-products/fertilizer-use-and-price.aspx" TargetMode="External"/><Relationship Id="rId7" Type="http://schemas.openxmlformats.org/officeDocument/2006/relationships/hyperlink" Target="https://statistics.laerd.com/statistical-guides/understanding-histograms.php" TargetMode="External"/><Relationship Id="rId2" Type="http://schemas.openxmlformats.org/officeDocument/2006/relationships/hyperlink" Target="https://www.data.gov/" TargetMode="External"/><Relationship Id="rId1" Type="http://schemas.openxmlformats.org/officeDocument/2006/relationships/slideLayout" Target="../slideLayouts/slideLayout2.xml"/><Relationship Id="rId6" Type="http://schemas.openxmlformats.org/officeDocument/2006/relationships/hyperlink" Target="https://www.itl.nist.gov/div898/handbook/eda/section3/normprpl.htm#:~:targetText=The%20normal%20probability%20plot%20" TargetMode="External"/><Relationship Id="rId5" Type="http://schemas.openxmlformats.org/officeDocument/2006/relationships/hyperlink" Target="https://support.minitab.com/en-us/minitab/19/help-and-how-to/modeling-statistics/regression/how-to/fit-regression-model/interpret-the-results/all-statistics-and-graphs/fits-and-diagnostics-table/" TargetMode="External"/><Relationship Id="rId4" Type="http://schemas.openxmlformats.org/officeDocument/2006/relationships/hyperlink" Target="https://support.minitab.com/en-us/minitab/18/help-and-how-to/modeling-statistics/regression/supporting-topics/model-assumptions/unusual-observation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89322" y="880993"/>
            <a:ext cx="7213351" cy="866775"/>
          </a:xfrm>
        </p:spPr>
        <p:txBody>
          <a:bodyPr>
            <a:normAutofit fontScale="90000"/>
          </a:bodyPr>
          <a:lstStyle/>
          <a:p>
            <a:pPr algn="ctr"/>
            <a:r>
              <a:rPr lang="en-IN" sz="4800" dirty="0">
                <a:solidFill>
                  <a:schemeClr val="tx1"/>
                </a:solidFill>
              </a:rPr>
              <a:t>Applied Engineering Statistics</a:t>
            </a:r>
            <a:br>
              <a:rPr lang="en-IN" sz="4800" dirty="0">
                <a:solidFill>
                  <a:schemeClr val="tx1"/>
                </a:solidFill>
              </a:rPr>
            </a:br>
            <a:r>
              <a:rPr lang="en-IN" sz="4800" dirty="0">
                <a:solidFill>
                  <a:schemeClr val="tx1"/>
                </a:solidFill>
              </a:rPr>
              <a:t>IE6210</a:t>
            </a:r>
          </a:p>
        </p:txBody>
      </p:sp>
      <p:sp>
        <p:nvSpPr>
          <p:cNvPr id="3" name="Subtitle 2"/>
          <p:cNvSpPr>
            <a:spLocks noGrp="1"/>
          </p:cNvSpPr>
          <p:nvPr>
            <p:ph type="subTitle" idx="1"/>
          </p:nvPr>
        </p:nvSpPr>
        <p:spPr>
          <a:xfrm>
            <a:off x="819439" y="4375053"/>
            <a:ext cx="10553114" cy="1707626"/>
          </a:xfrm>
        </p:spPr>
        <p:txBody>
          <a:bodyPr>
            <a:normAutofit fontScale="92500" lnSpcReduction="10000"/>
          </a:bodyPr>
          <a:lstStyle/>
          <a:p>
            <a:pPr algn="ctr"/>
            <a:r>
              <a:rPr lang="en-IN" sz="1400" b="1" cap="none" dirty="0">
                <a:solidFill>
                  <a:schemeClr val="tx1"/>
                </a:solidFill>
                <a:latin typeface="+mn-lt"/>
              </a:rPr>
              <a:t>Submitted by </a:t>
            </a:r>
          </a:p>
          <a:p>
            <a:r>
              <a:rPr lang="en-IN" sz="1400" b="1" cap="none" dirty="0">
                <a:solidFill>
                  <a:schemeClr val="tx1"/>
                </a:solidFill>
                <a:latin typeface="+mn-lt"/>
              </a:rPr>
              <a:t>				    </a:t>
            </a:r>
            <a:r>
              <a:rPr lang="en-IN" sz="1400" b="1" cap="none" dirty="0" err="1">
                <a:solidFill>
                  <a:schemeClr val="tx1"/>
                </a:solidFill>
                <a:latin typeface="+mn-lt"/>
              </a:rPr>
              <a:t>Sharayu</a:t>
            </a:r>
            <a:r>
              <a:rPr lang="en-IN" sz="1400" b="1" cap="none" dirty="0">
                <a:solidFill>
                  <a:schemeClr val="tx1"/>
                </a:solidFill>
                <a:latin typeface="+mn-lt"/>
              </a:rPr>
              <a:t> </a:t>
            </a:r>
            <a:r>
              <a:rPr lang="en-IN" sz="1400" b="1" cap="none" dirty="0" err="1">
                <a:solidFill>
                  <a:schemeClr val="tx1"/>
                </a:solidFill>
                <a:latin typeface="+mn-lt"/>
              </a:rPr>
              <a:t>Madrewar</a:t>
            </a:r>
            <a:r>
              <a:rPr lang="en-IN" sz="1400" b="1" cap="none" dirty="0">
                <a:solidFill>
                  <a:schemeClr val="tx1"/>
                </a:solidFill>
                <a:latin typeface="+mn-lt"/>
              </a:rPr>
              <a:t> (gx5538)</a:t>
            </a:r>
          </a:p>
          <a:p>
            <a:pPr algn="ctr"/>
            <a:r>
              <a:rPr lang="en-IN" sz="1400" b="1" cap="none" dirty="0">
                <a:solidFill>
                  <a:schemeClr val="tx1"/>
                </a:solidFill>
                <a:latin typeface="+mn-lt"/>
              </a:rPr>
              <a:t>Chaitanya Dixit (gy2283)</a:t>
            </a:r>
          </a:p>
          <a:p>
            <a:pPr algn="ctr"/>
            <a:r>
              <a:rPr lang="en-IN" sz="1400" b="1" cap="none" dirty="0">
                <a:solidFill>
                  <a:schemeClr val="tx1"/>
                </a:solidFill>
                <a:latin typeface="+mn-lt"/>
              </a:rPr>
              <a:t>Rajratna Patil (gv2149) </a:t>
            </a:r>
          </a:p>
          <a:p>
            <a:pPr algn="ctr"/>
            <a:r>
              <a:rPr lang="en-IN" sz="1400" b="1" cap="none" dirty="0">
                <a:solidFill>
                  <a:schemeClr val="tx1"/>
                </a:solidFill>
                <a:latin typeface="+mn-lt"/>
              </a:rPr>
              <a:t>Sudhanshu Authankar (gy2984)</a:t>
            </a:r>
          </a:p>
          <a:p>
            <a:pPr algn="ctr"/>
            <a:endParaRPr lang="en-IN" sz="1400" dirty="0">
              <a:latin typeface="+mn-lt"/>
            </a:endParaRPr>
          </a:p>
        </p:txBody>
      </p:sp>
      <p:sp>
        <p:nvSpPr>
          <p:cNvPr id="4" name="TextBox 3"/>
          <p:cNvSpPr txBox="1"/>
          <p:nvPr/>
        </p:nvSpPr>
        <p:spPr>
          <a:xfrm>
            <a:off x="3298660" y="2419140"/>
            <a:ext cx="5594673" cy="830997"/>
          </a:xfrm>
          <a:prstGeom prst="rect">
            <a:avLst/>
          </a:prstGeom>
          <a:noFill/>
        </p:spPr>
        <p:txBody>
          <a:bodyPr wrap="none" rtlCol="0">
            <a:spAutoFit/>
          </a:bodyPr>
          <a:lstStyle/>
          <a:p>
            <a:r>
              <a:rPr lang="en-IN" sz="2400" dirty="0"/>
              <a:t>Analysis of the nutrients from the fertilizers</a:t>
            </a:r>
          </a:p>
          <a:p>
            <a:pPr algn="ctr"/>
            <a:r>
              <a:rPr lang="en-IN" sz="2400" dirty="0"/>
              <a:t> consumed by the various  crops </a:t>
            </a:r>
          </a:p>
        </p:txBody>
      </p:sp>
    </p:spTree>
    <p:extLst>
      <p:ext uri="{BB962C8B-B14F-4D97-AF65-F5344CB8AC3E}">
        <p14:creationId xmlns:p14="http://schemas.microsoft.com/office/powerpoint/2010/main" val="4088953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solidFill>
                  <a:schemeClr val="tx1"/>
                </a:solidFill>
              </a:rPr>
              <a:t>Introduction</a:t>
            </a:r>
          </a:p>
        </p:txBody>
      </p:sp>
      <p:sp>
        <p:nvSpPr>
          <p:cNvPr id="3" name="Content Placeholder 2"/>
          <p:cNvSpPr>
            <a:spLocks noGrp="1"/>
          </p:cNvSpPr>
          <p:nvPr>
            <p:ph idx="1"/>
          </p:nvPr>
        </p:nvSpPr>
        <p:spPr>
          <a:xfrm>
            <a:off x="1097280" y="2042682"/>
            <a:ext cx="10058400" cy="4023360"/>
          </a:xfrm>
        </p:spPr>
        <p:txBody>
          <a:bodyPr/>
          <a:lstStyle/>
          <a:p>
            <a:pPr>
              <a:buFont typeface="Wingdings" panose="05000000000000000000" pitchFamily="2" charset="2"/>
              <a:buChar char="Ø"/>
            </a:pPr>
            <a:r>
              <a:rPr lang="en-IN" dirty="0">
                <a:solidFill>
                  <a:schemeClr val="tx1"/>
                </a:solidFill>
              </a:rPr>
              <a:t>The survey is taken to estimate plant nutrients of Nitrogen, Phosphate and Potash. National agriculture statistical service has a set of data from 1971-2010. Nutrient contents are considered from different states of USA mainly corn, soybean, cotton, wheat.</a:t>
            </a:r>
          </a:p>
          <a:p>
            <a:pPr>
              <a:buFont typeface="Wingdings" panose="05000000000000000000" pitchFamily="2" charset="2"/>
              <a:buChar char="Ø"/>
            </a:pPr>
            <a:r>
              <a:rPr lang="en-IN" dirty="0">
                <a:solidFill>
                  <a:schemeClr val="tx1"/>
                </a:solidFill>
              </a:rPr>
              <a:t> These nutrients are measured in 1000 nutrient short tons. Data   Gathered from economic research service, department of agriculture.  Data maintained by Richard Nehring.</a:t>
            </a:r>
          </a:p>
          <a:p>
            <a:pPr>
              <a:buFont typeface="Wingdings" panose="05000000000000000000" pitchFamily="2" charset="2"/>
              <a:buChar char="Ø"/>
            </a:pPr>
            <a:r>
              <a:rPr lang="en-US" dirty="0">
                <a:solidFill>
                  <a:schemeClr val="tx1"/>
                </a:solidFill>
              </a:rPr>
              <a:t>We will use following methods to analyze the data like Graphs (box -plots, Histogram), Test of hypothesis, Regression (linear, multiple) and ANOVA (one factor, two factor)</a:t>
            </a:r>
            <a:endParaRPr lang="en-IN" dirty="0">
              <a:solidFill>
                <a:schemeClr val="tx1"/>
              </a:solidFill>
            </a:endParaRPr>
          </a:p>
          <a:p>
            <a:pPr marL="0" indent="0">
              <a:buNone/>
            </a:pPr>
            <a:endParaRPr lang="en-IN" dirty="0"/>
          </a:p>
        </p:txBody>
      </p:sp>
    </p:spTree>
    <p:extLst>
      <p:ext uri="{BB962C8B-B14F-4D97-AF65-F5344CB8AC3E}">
        <p14:creationId xmlns:p14="http://schemas.microsoft.com/office/powerpoint/2010/main" val="777463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solidFill>
                  <a:schemeClr val="tx1"/>
                </a:solidFill>
              </a:rPr>
              <a:t>Motivation</a:t>
            </a:r>
          </a:p>
        </p:txBody>
      </p:sp>
      <p:sp>
        <p:nvSpPr>
          <p:cNvPr id="3" name="Content Placeholder 2"/>
          <p:cNvSpPr>
            <a:spLocks noGrp="1"/>
          </p:cNvSpPr>
          <p:nvPr>
            <p:ph idx="1"/>
          </p:nvPr>
        </p:nvSpPr>
        <p:spPr>
          <a:xfrm>
            <a:off x="1097280" y="2056749"/>
            <a:ext cx="10058400" cy="4023360"/>
          </a:xfrm>
        </p:spPr>
        <p:txBody>
          <a:bodyPr/>
          <a:lstStyle/>
          <a:p>
            <a:pPr>
              <a:buFont typeface="Wingdings" panose="05000000000000000000" pitchFamily="2" charset="2"/>
              <a:buChar char="Ø"/>
            </a:pPr>
            <a:r>
              <a:rPr lang="en-IN" dirty="0">
                <a:solidFill>
                  <a:schemeClr val="tx1"/>
                </a:solidFill>
              </a:rPr>
              <a:t>We did this analysis for applying the statistical methods and tools in real life , practical problems</a:t>
            </a:r>
          </a:p>
          <a:p>
            <a:pPr>
              <a:buFont typeface="Wingdings" panose="05000000000000000000" pitchFamily="2" charset="2"/>
              <a:buChar char="Ø"/>
            </a:pPr>
            <a:r>
              <a:rPr lang="en-IN" dirty="0">
                <a:solidFill>
                  <a:schemeClr val="tx1"/>
                </a:solidFill>
              </a:rPr>
              <a:t>We found the data from official USA Government website about crops and nutrients consumed by them though fertilizers</a:t>
            </a:r>
          </a:p>
          <a:p>
            <a:pPr>
              <a:buFont typeface="Wingdings" panose="05000000000000000000" pitchFamily="2" charset="2"/>
              <a:buChar char="Ø"/>
            </a:pPr>
            <a:r>
              <a:rPr lang="en-IN" dirty="0">
                <a:solidFill>
                  <a:schemeClr val="tx1"/>
                </a:solidFill>
              </a:rPr>
              <a:t>We did the analysis of data to infer the changes over last 40 years in fertilizers  nutrients and to compare various nutrients consumed by the crop</a:t>
            </a:r>
          </a:p>
          <a:p>
            <a:endParaRPr lang="en-IN" dirty="0"/>
          </a:p>
        </p:txBody>
      </p:sp>
    </p:spTree>
    <p:extLst>
      <p:ext uri="{BB962C8B-B14F-4D97-AF65-F5344CB8AC3E}">
        <p14:creationId xmlns:p14="http://schemas.microsoft.com/office/powerpoint/2010/main" val="1580708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solidFill>
                  <a:schemeClr val="tx1"/>
                </a:solidFill>
              </a:rPr>
              <a:t>Problem</a:t>
            </a:r>
            <a:r>
              <a:rPr lang="en-IN" dirty="0"/>
              <a:t> </a:t>
            </a:r>
            <a:r>
              <a:rPr lang="en-IN" dirty="0">
                <a:solidFill>
                  <a:schemeClr val="tx1"/>
                </a:solidFill>
              </a:rPr>
              <a:t>Statement</a:t>
            </a:r>
            <a:r>
              <a:rPr lang="en-IN" dirty="0"/>
              <a:t> </a:t>
            </a:r>
          </a:p>
        </p:txBody>
      </p:sp>
      <p:sp>
        <p:nvSpPr>
          <p:cNvPr id="3" name="Content Placeholder 2"/>
          <p:cNvSpPr>
            <a:spLocks noGrp="1"/>
          </p:cNvSpPr>
          <p:nvPr>
            <p:ph idx="1"/>
          </p:nvPr>
        </p:nvSpPr>
        <p:spPr>
          <a:xfrm>
            <a:off x="1097280" y="2211494"/>
            <a:ext cx="10058400" cy="4023360"/>
          </a:xfrm>
        </p:spPr>
        <p:txBody>
          <a:bodyPr>
            <a:normAutofit fontScale="92500" lnSpcReduction="10000"/>
          </a:bodyPr>
          <a:lstStyle/>
          <a:p>
            <a:pPr lvl="0">
              <a:buFont typeface="Wingdings" panose="05000000000000000000" pitchFamily="2" charset="2"/>
              <a:buChar char="Ø"/>
            </a:pPr>
            <a:r>
              <a:rPr lang="en-US" dirty="0">
                <a:solidFill>
                  <a:schemeClr val="tx1"/>
                </a:solidFill>
              </a:rPr>
              <a:t>To check normality of the data of  the Nutrients consumed by each crop, by various graphical means like boxplot ( to checking symmetry about median)  histogram ( to check the symmetry about mean) and probability plot   </a:t>
            </a:r>
          </a:p>
          <a:p>
            <a:pPr lvl="0">
              <a:buFont typeface="Wingdings" panose="05000000000000000000" pitchFamily="2" charset="2"/>
              <a:buChar char="Ø"/>
            </a:pPr>
            <a:r>
              <a:rPr lang="en-US" dirty="0">
                <a:solidFill>
                  <a:schemeClr val="tx1"/>
                </a:solidFill>
              </a:rPr>
              <a:t>To get better quality of crop and to secure neutrality of soil  the potash contain which increases alkalinity of soil  and phosphate contain which increases the acidity of soil should be equal so check the hypothesis of the  mean of potash and phosphate contain of the various crops</a:t>
            </a:r>
          </a:p>
          <a:p>
            <a:pPr lvl="0">
              <a:buFont typeface="Wingdings" panose="05000000000000000000" pitchFamily="2" charset="2"/>
              <a:buChar char="Ø"/>
            </a:pPr>
            <a:r>
              <a:rPr lang="en-US" dirty="0">
                <a:solidFill>
                  <a:schemeClr val="tx1"/>
                </a:solidFill>
              </a:rPr>
              <a:t>While preparation any fertilizers manufacturer always defines a specific amount of Phosphate and potash after that Nitrogen contain is added to maintain concentration.so find the regression analysis of the data being nitrogen as dependent variable and Phosphate and potash are independent variable.</a:t>
            </a:r>
          </a:p>
          <a:p>
            <a:pPr lvl="0">
              <a:buFont typeface="Wingdings" panose="05000000000000000000" pitchFamily="2" charset="2"/>
              <a:buChar char="Ø"/>
            </a:pPr>
            <a:r>
              <a:rPr lang="en-US" dirty="0">
                <a:solidFill>
                  <a:schemeClr val="tx1"/>
                </a:solidFill>
              </a:rPr>
              <a:t>To Find  the effect of individual Plants and individual fertilizer content (Factors) on the Responses and To find if there is any effect of interaction between the plant and fertilizer content (Factor interaction) on the responses.</a:t>
            </a:r>
          </a:p>
          <a:p>
            <a:endParaRPr lang="en-IN" dirty="0">
              <a:solidFill>
                <a:schemeClr val="tx1"/>
              </a:solidFill>
            </a:endParaRPr>
          </a:p>
        </p:txBody>
      </p:sp>
    </p:spTree>
    <p:extLst>
      <p:ext uri="{BB962C8B-B14F-4D97-AF65-F5344CB8AC3E}">
        <p14:creationId xmlns:p14="http://schemas.microsoft.com/office/powerpoint/2010/main" val="2688433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a:t>
            </a:r>
          </a:p>
        </p:txBody>
      </p:sp>
      <p:sp>
        <p:nvSpPr>
          <p:cNvPr id="3" name="Content Placeholder 2"/>
          <p:cNvSpPr>
            <a:spLocks noGrp="1"/>
          </p:cNvSpPr>
          <p:nvPr>
            <p:ph idx="1"/>
          </p:nvPr>
        </p:nvSpPr>
        <p:spPr>
          <a:xfrm>
            <a:off x="868680" y="2000176"/>
            <a:ext cx="10515600" cy="4351338"/>
          </a:xfrm>
        </p:spPr>
        <p:txBody>
          <a:bodyPr/>
          <a:lstStyle/>
          <a:p>
            <a:pPr>
              <a:buFont typeface="Wingdings" panose="05000000000000000000" pitchFamily="2" charset="2"/>
              <a:buChar char="Ø"/>
            </a:pPr>
            <a:r>
              <a:rPr lang="en-US" dirty="0">
                <a:solidFill>
                  <a:schemeClr val="tx1"/>
                </a:solidFill>
              </a:rPr>
              <a:t>Graphical method determines whether sample data conform to a hypothesized distribution based on a subjective visual examination of the data</a:t>
            </a:r>
          </a:p>
          <a:p>
            <a:pPr>
              <a:buFont typeface="Wingdings" panose="05000000000000000000" pitchFamily="2" charset="2"/>
              <a:buChar char="Ø"/>
            </a:pPr>
            <a:r>
              <a:rPr lang="en-US" dirty="0">
                <a:solidFill>
                  <a:schemeClr val="tx1"/>
                </a:solidFill>
              </a:rPr>
              <a:t>To check normality of the data of  the Nutrients consumed by each crop, by boxplot ( to checking symmetry about median), These boxplots shows data of Nitrogen, Phosphate and Potash with Corn, Cotton, Soybean, Wheat and other </a:t>
            </a:r>
          </a:p>
          <a:p>
            <a:pPr>
              <a:buFont typeface="Wingdings" panose="05000000000000000000" pitchFamily="2" charset="2"/>
              <a:buChar char="Ø"/>
            </a:pPr>
            <a:r>
              <a:rPr lang="en-US" dirty="0">
                <a:solidFill>
                  <a:schemeClr val="tx1"/>
                </a:solidFill>
              </a:rPr>
              <a:t> Histogram ( to check the symmetry about mean), Each bin contains the number of usage of fertilizers in the data set that are contained within that bin </a:t>
            </a:r>
          </a:p>
          <a:p>
            <a:pPr>
              <a:buFont typeface="Wingdings" panose="05000000000000000000" pitchFamily="2" charset="2"/>
              <a:buChar char="Ø"/>
            </a:pPr>
            <a:r>
              <a:rPr lang="en-US" dirty="0">
                <a:solidFill>
                  <a:schemeClr val="tx1"/>
                </a:solidFill>
              </a:rPr>
              <a:t> Probability plot( to check symmetry about the normality line),</a:t>
            </a:r>
            <a:r>
              <a:rPr lang="en-US" dirty="0"/>
              <a:t> </a:t>
            </a:r>
            <a:r>
              <a:rPr lang="en-US" dirty="0">
                <a:solidFill>
                  <a:schemeClr val="tx1"/>
                </a:solidFill>
              </a:rPr>
              <a:t>The data are plotted against a theoretical normal distribution in such a way that the points should form an approximate straight line</a:t>
            </a:r>
            <a:endParaRPr lang="en-IN" dirty="0">
              <a:solidFill>
                <a:schemeClr val="tx1"/>
              </a:solidFill>
            </a:endParaRPr>
          </a:p>
          <a:p>
            <a:pPr>
              <a:buFont typeface="Wingdings" panose="05000000000000000000" pitchFamily="2" charset="2"/>
              <a:buChar char="Ø"/>
            </a:pPr>
            <a:endParaRPr lang="en-IN" dirty="0">
              <a:solidFill>
                <a:schemeClr val="tx1"/>
              </a:solidFill>
            </a:endParaRPr>
          </a:p>
        </p:txBody>
      </p:sp>
      <p:sp>
        <p:nvSpPr>
          <p:cNvPr id="4" name="TextBox 3">
            <a:extLst>
              <a:ext uri="{FF2B5EF4-FFF2-40B4-BE49-F238E27FC236}">
                <a16:creationId xmlns:a16="http://schemas.microsoft.com/office/drawing/2014/main" id="{1A5DAC3D-C75C-4A6D-913B-35D33F9FE31B}"/>
              </a:ext>
            </a:extLst>
          </p:cNvPr>
          <p:cNvSpPr txBox="1"/>
          <p:nvPr/>
        </p:nvSpPr>
        <p:spPr>
          <a:xfrm>
            <a:off x="1151708" y="766296"/>
            <a:ext cx="9888583" cy="769441"/>
          </a:xfrm>
          <a:prstGeom prst="rect">
            <a:avLst/>
          </a:prstGeom>
          <a:noFill/>
        </p:spPr>
        <p:txBody>
          <a:bodyPr wrap="square" rtlCol="0">
            <a:spAutoFit/>
          </a:bodyPr>
          <a:lstStyle/>
          <a:p>
            <a:pPr algn="ctr"/>
            <a:r>
              <a:rPr lang="en-US" sz="4400" dirty="0"/>
              <a:t>Boxplot Histogram and Probability Plot </a:t>
            </a:r>
          </a:p>
        </p:txBody>
      </p:sp>
    </p:spTree>
    <p:extLst>
      <p:ext uri="{BB962C8B-B14F-4D97-AF65-F5344CB8AC3E}">
        <p14:creationId xmlns:p14="http://schemas.microsoft.com/office/powerpoint/2010/main" val="421724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9AFE36-206D-4D66-B4EF-67B05BC5B61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3595662" y="3391431"/>
            <a:ext cx="4594765" cy="3228328"/>
          </a:xfrm>
          <a:prstGeom prst="rect">
            <a:avLst/>
          </a:prstGeom>
          <a:noFill/>
          <a:ln>
            <a:noFill/>
          </a:ln>
        </p:spPr>
      </p:pic>
      <p:pic>
        <p:nvPicPr>
          <p:cNvPr id="3" name="Picture 2">
            <a:extLst>
              <a:ext uri="{FF2B5EF4-FFF2-40B4-BE49-F238E27FC236}">
                <a16:creationId xmlns:a16="http://schemas.microsoft.com/office/drawing/2014/main" id="{73420446-D2A0-4343-AF52-C20214C8B090}"/>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7262887" y="-37752"/>
            <a:ext cx="4594765" cy="3228328"/>
          </a:xfrm>
          <a:prstGeom prst="rect">
            <a:avLst/>
          </a:prstGeom>
          <a:noFill/>
          <a:ln>
            <a:noFill/>
          </a:ln>
        </p:spPr>
      </p:pic>
      <p:pic>
        <p:nvPicPr>
          <p:cNvPr id="4" name="Picture 3">
            <a:extLst>
              <a:ext uri="{FF2B5EF4-FFF2-40B4-BE49-F238E27FC236}">
                <a16:creationId xmlns:a16="http://schemas.microsoft.com/office/drawing/2014/main" id="{A7CDCBE1-1C6B-4946-8011-7CE91025C3F4}"/>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86100" y="0"/>
            <a:ext cx="4594765" cy="3228328"/>
          </a:xfrm>
          <a:prstGeom prst="rect">
            <a:avLst/>
          </a:prstGeom>
          <a:noFill/>
          <a:ln>
            <a:noFill/>
          </a:ln>
        </p:spPr>
      </p:pic>
      <p:pic>
        <p:nvPicPr>
          <p:cNvPr id="5" name="Picture 4">
            <a:extLst>
              <a:ext uri="{FF2B5EF4-FFF2-40B4-BE49-F238E27FC236}">
                <a16:creationId xmlns:a16="http://schemas.microsoft.com/office/drawing/2014/main" id="{3A1679AB-D0B4-4D7C-B07C-CA3F66C6CA9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595661" y="3353678"/>
            <a:ext cx="4594765" cy="2797112"/>
          </a:xfrm>
          <a:prstGeom prst="rect">
            <a:avLst/>
          </a:prstGeom>
          <a:noFill/>
          <a:ln>
            <a:noFill/>
          </a:ln>
        </p:spPr>
      </p:pic>
      <p:pic>
        <p:nvPicPr>
          <p:cNvPr id="6" name="Picture 5">
            <a:extLst>
              <a:ext uri="{FF2B5EF4-FFF2-40B4-BE49-F238E27FC236}">
                <a16:creationId xmlns:a16="http://schemas.microsoft.com/office/drawing/2014/main" id="{0079A9B7-7647-46C7-A3B9-3FC906A7E8F1}"/>
              </a:ext>
            </a:extLst>
          </p:cNvPr>
          <p:cNvPicPr/>
          <p:nvPr/>
        </p:nvPicPr>
        <p:blipFill>
          <a:blip r:embed="rId7">
            <a:extLst>
              <a:ext uri="{28A0092B-C50C-407E-A947-70E740481C1C}">
                <a14:useLocalDpi xmlns:a14="http://schemas.microsoft.com/office/drawing/2010/main" val="0"/>
              </a:ext>
            </a:extLst>
          </a:blip>
          <a:srcRect/>
          <a:stretch>
            <a:fillRect/>
          </a:stretch>
        </p:blipFill>
        <p:spPr bwMode="auto">
          <a:xfrm>
            <a:off x="7202596" y="17446"/>
            <a:ext cx="4594765" cy="3228328"/>
          </a:xfrm>
          <a:prstGeom prst="rect">
            <a:avLst/>
          </a:prstGeom>
          <a:noFill/>
          <a:ln>
            <a:noFill/>
          </a:ln>
        </p:spPr>
      </p:pic>
      <p:pic>
        <p:nvPicPr>
          <p:cNvPr id="7" name="Picture 6">
            <a:extLst>
              <a:ext uri="{FF2B5EF4-FFF2-40B4-BE49-F238E27FC236}">
                <a16:creationId xmlns:a16="http://schemas.microsoft.com/office/drawing/2014/main" id="{E95651C7-7CE1-46B0-9353-45066ECFAD3C}"/>
              </a:ext>
            </a:extLst>
          </p:cNvPr>
          <p:cNvPicPr/>
          <p:nvPr/>
        </p:nvPicPr>
        <p:blipFill>
          <a:blip r:embed="rId8">
            <a:extLst>
              <a:ext uri="{28A0092B-C50C-407E-A947-70E740481C1C}">
                <a14:useLocalDpi xmlns:a14="http://schemas.microsoft.com/office/drawing/2010/main" val="0"/>
              </a:ext>
            </a:extLst>
          </a:blip>
          <a:srcRect/>
          <a:stretch>
            <a:fillRect/>
          </a:stretch>
        </p:blipFill>
        <p:spPr bwMode="auto">
          <a:xfrm>
            <a:off x="86102" y="34894"/>
            <a:ext cx="4594765" cy="3228328"/>
          </a:xfrm>
          <a:prstGeom prst="rect">
            <a:avLst/>
          </a:prstGeom>
          <a:noFill/>
          <a:ln>
            <a:noFill/>
          </a:ln>
        </p:spPr>
      </p:pic>
      <p:pic>
        <p:nvPicPr>
          <p:cNvPr id="8" name="Picture 7">
            <a:extLst>
              <a:ext uri="{FF2B5EF4-FFF2-40B4-BE49-F238E27FC236}">
                <a16:creationId xmlns:a16="http://schemas.microsoft.com/office/drawing/2014/main" id="{EE234464-4019-4DE0-854F-14AC2EDE53D8}"/>
              </a:ext>
            </a:extLst>
          </p:cNvPr>
          <p:cNvPicPr/>
          <p:nvPr/>
        </p:nvPicPr>
        <p:blipFill rotWithShape="1">
          <a:blip r:embed="rId9">
            <a:extLst>
              <a:ext uri="{28A0092B-C50C-407E-A947-70E740481C1C}">
                <a14:useLocalDpi xmlns:a14="http://schemas.microsoft.com/office/drawing/2010/main" val="0"/>
              </a:ext>
            </a:extLst>
          </a:blip>
          <a:srcRect r="17261"/>
          <a:stretch/>
        </p:blipFill>
        <p:spPr bwMode="auto">
          <a:xfrm>
            <a:off x="7232741" y="0"/>
            <a:ext cx="4594765" cy="3228328"/>
          </a:xfrm>
          <a:prstGeom prst="rect">
            <a:avLst/>
          </a:prstGeom>
          <a:noFill/>
          <a:ln>
            <a:noFill/>
          </a:ln>
        </p:spPr>
      </p:pic>
      <p:pic>
        <p:nvPicPr>
          <p:cNvPr id="9" name="Picture 8">
            <a:extLst>
              <a:ext uri="{FF2B5EF4-FFF2-40B4-BE49-F238E27FC236}">
                <a16:creationId xmlns:a16="http://schemas.microsoft.com/office/drawing/2014/main" id="{E06A19EB-0A3A-4FE6-A535-E3F760584707}"/>
              </a:ext>
            </a:extLst>
          </p:cNvPr>
          <p:cNvPicPr/>
          <p:nvPr/>
        </p:nvPicPr>
        <p:blipFill rotWithShape="1">
          <a:blip r:embed="rId10">
            <a:extLst>
              <a:ext uri="{28A0092B-C50C-407E-A947-70E740481C1C}">
                <a14:useLocalDpi xmlns:a14="http://schemas.microsoft.com/office/drawing/2010/main" val="0"/>
              </a:ext>
            </a:extLst>
          </a:blip>
          <a:srcRect r="14322"/>
          <a:stretch/>
        </p:blipFill>
        <p:spPr bwMode="auto">
          <a:xfrm>
            <a:off x="69273" y="1"/>
            <a:ext cx="4594765" cy="3228328"/>
          </a:xfrm>
          <a:prstGeom prst="rect">
            <a:avLst/>
          </a:prstGeom>
          <a:noFill/>
          <a:ln>
            <a:noFill/>
          </a:ln>
        </p:spPr>
      </p:pic>
      <p:pic>
        <p:nvPicPr>
          <p:cNvPr id="10" name="Picture 9">
            <a:extLst>
              <a:ext uri="{FF2B5EF4-FFF2-40B4-BE49-F238E27FC236}">
                <a16:creationId xmlns:a16="http://schemas.microsoft.com/office/drawing/2014/main" id="{9889656F-0B1D-48E3-BB13-B0BFCB241E1F}"/>
              </a:ext>
            </a:extLst>
          </p:cNvPr>
          <p:cNvPicPr/>
          <p:nvPr/>
        </p:nvPicPr>
        <p:blipFill rotWithShape="1">
          <a:blip r:embed="rId11">
            <a:extLst>
              <a:ext uri="{28A0092B-C50C-407E-A947-70E740481C1C}">
                <a14:useLocalDpi xmlns:a14="http://schemas.microsoft.com/office/drawing/2010/main" val="0"/>
              </a:ext>
            </a:extLst>
          </a:blip>
          <a:srcRect r="13891"/>
          <a:stretch/>
        </p:blipFill>
        <p:spPr bwMode="auto">
          <a:xfrm>
            <a:off x="3615547" y="3283527"/>
            <a:ext cx="4594765" cy="3228328"/>
          </a:xfrm>
          <a:prstGeom prst="rect">
            <a:avLst/>
          </a:prstGeom>
          <a:noFill/>
          <a:ln>
            <a:noFill/>
          </a:ln>
        </p:spPr>
      </p:pic>
    </p:spTree>
    <p:extLst>
      <p:ext uri="{BB962C8B-B14F-4D97-AF65-F5344CB8AC3E}">
        <p14:creationId xmlns:p14="http://schemas.microsoft.com/office/powerpoint/2010/main" val="2140928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2"/>
                                        </p:tgtEl>
                                      </p:cBhvr>
                                    </p:animEffect>
                                    <p:set>
                                      <p:cBhvr>
                                        <p:cTn id="12" dur="1" fill="hold">
                                          <p:stCondLst>
                                            <p:cond delay="499"/>
                                          </p:stCondLst>
                                        </p:cTn>
                                        <p:tgtEl>
                                          <p:spTgt spid="2"/>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500"/>
                                        <p:tgtEl>
                                          <p:spTgt spid="3"/>
                                        </p:tgtEl>
                                      </p:cBhvr>
                                    </p:animEffect>
                                    <p:set>
                                      <p:cBhvr>
                                        <p:cTn id="20" dur="1" fill="hold">
                                          <p:stCondLst>
                                            <p:cond delay="499"/>
                                          </p:stCondLst>
                                        </p:cTn>
                                        <p:tgtEl>
                                          <p:spTgt spid="3"/>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4"/>
                                        </p:tgtEl>
                                      </p:cBhvr>
                                    </p:animEffect>
                                    <p:set>
                                      <p:cBhvr>
                                        <p:cTn id="28" dur="1" fill="hold">
                                          <p:stCondLst>
                                            <p:cond delay="499"/>
                                          </p:stCondLst>
                                        </p:cTn>
                                        <p:tgtEl>
                                          <p:spTgt spid="4"/>
                                        </p:tgtEl>
                                        <p:attrNameLst>
                                          <p:attrName>style.visibility</p:attrName>
                                        </p:attrNameLst>
                                      </p:cBhvr>
                                      <p:to>
                                        <p:strVal val="hidden"/>
                                      </p:to>
                                    </p:set>
                                  </p:childTnLst>
                                </p:cTn>
                              </p:par>
                              <p:par>
                                <p:cTn id="29" presetID="10"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nodeType="clickEffect">
                                  <p:stCondLst>
                                    <p:cond delay="0"/>
                                  </p:stCondLst>
                                  <p:childTnLst>
                                    <p:animEffect transition="out" filter="fade">
                                      <p:cBhvr>
                                        <p:cTn id="35" dur="500"/>
                                        <p:tgtEl>
                                          <p:spTgt spid="5"/>
                                        </p:tgtEl>
                                      </p:cBhvr>
                                    </p:animEffect>
                                    <p:set>
                                      <p:cBhvr>
                                        <p:cTn id="36" dur="1" fill="hold">
                                          <p:stCondLst>
                                            <p:cond delay="499"/>
                                          </p:stCondLst>
                                        </p:cTn>
                                        <p:tgtEl>
                                          <p:spTgt spid="5"/>
                                        </p:tgtEl>
                                        <p:attrNameLst>
                                          <p:attrName>style.visibility</p:attrName>
                                        </p:attrNameLst>
                                      </p:cBhvr>
                                      <p:to>
                                        <p:strVal val="hidden"/>
                                      </p:to>
                                    </p:set>
                                  </p:childTnLst>
                                </p:cTn>
                              </p:par>
                              <p:par>
                                <p:cTn id="37" presetID="10" presetClass="entr" presetSubtype="0" fill="hold" nodeType="with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500"/>
                                        <p:tgtEl>
                                          <p:spTgt spid="6"/>
                                        </p:tgtEl>
                                      </p:cBhvr>
                                    </p:animEffect>
                                    <p:set>
                                      <p:cBhvr>
                                        <p:cTn id="44" dur="1" fill="hold">
                                          <p:stCondLst>
                                            <p:cond delay="499"/>
                                          </p:stCondLst>
                                        </p:cTn>
                                        <p:tgtEl>
                                          <p:spTgt spid="6"/>
                                        </p:tgtEl>
                                        <p:attrNameLst>
                                          <p:attrName>style.visibility</p:attrName>
                                        </p:attrNameLst>
                                      </p:cBhvr>
                                      <p:to>
                                        <p:strVal val="hidden"/>
                                      </p:to>
                                    </p:set>
                                  </p:childTnLst>
                                </p:cTn>
                              </p:par>
                              <p:par>
                                <p:cTn id="45" presetID="10" presetClass="entr" presetSubtype="0" fill="hold" nodeType="with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nodeType="clickEffect">
                                  <p:stCondLst>
                                    <p:cond delay="0"/>
                                  </p:stCondLst>
                                  <p:childTnLst>
                                    <p:animEffect transition="out" filter="fade">
                                      <p:cBhvr>
                                        <p:cTn id="51" dur="500"/>
                                        <p:tgtEl>
                                          <p:spTgt spid="7"/>
                                        </p:tgtEl>
                                      </p:cBhvr>
                                    </p:animEffect>
                                    <p:set>
                                      <p:cBhvr>
                                        <p:cTn id="52" dur="1" fill="hold">
                                          <p:stCondLst>
                                            <p:cond delay="499"/>
                                          </p:stCondLst>
                                        </p:cTn>
                                        <p:tgtEl>
                                          <p:spTgt spid="7"/>
                                        </p:tgtEl>
                                        <p:attrNameLst>
                                          <p:attrName>style.visibility</p:attrName>
                                        </p:attrNameLst>
                                      </p:cBhvr>
                                      <p:to>
                                        <p:strVal val="hidden"/>
                                      </p:to>
                                    </p:set>
                                  </p:childTnLst>
                                </p:cTn>
                              </p:par>
                              <p:par>
                                <p:cTn id="53" presetID="10" presetClass="entr" presetSubtype="0" fill="hold" nodeType="with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500"/>
                                        <p:tgtEl>
                                          <p:spTgt spid="1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xit" presetSubtype="0" fill="hold" nodeType="clickEffect">
                                  <p:stCondLst>
                                    <p:cond delay="0"/>
                                  </p:stCondLst>
                                  <p:childTnLst>
                                    <p:animEffect transition="out" filter="fade">
                                      <p:cBhvr>
                                        <p:cTn id="59" dur="500"/>
                                        <p:tgtEl>
                                          <p:spTgt spid="10"/>
                                        </p:tgtEl>
                                      </p:cBhvr>
                                    </p:animEffect>
                                    <p:set>
                                      <p:cBhvr>
                                        <p:cTn id="60" dur="1" fill="hold">
                                          <p:stCondLst>
                                            <p:cond delay="499"/>
                                          </p:stCondLst>
                                        </p:cTn>
                                        <p:tgtEl>
                                          <p:spTgt spid="10"/>
                                        </p:tgtEl>
                                        <p:attrNameLst>
                                          <p:attrName>style.visibility</p:attrName>
                                        </p:attrNameLst>
                                      </p:cBhvr>
                                      <p:to>
                                        <p:strVal val="hidden"/>
                                      </p:to>
                                    </p:set>
                                  </p:childTnLst>
                                </p:cTn>
                              </p:par>
                              <p:par>
                                <p:cTn id="61" presetID="10" presetClass="entr" presetSubtype="0" fill="hold" nodeType="withEffect">
                                  <p:stCondLst>
                                    <p:cond delay="0"/>
                                  </p:stCondLst>
                                  <p:childTnLst>
                                    <p:set>
                                      <p:cBhvr>
                                        <p:cTn id="62" dur="1" fill="hold">
                                          <p:stCondLst>
                                            <p:cond delay="0"/>
                                          </p:stCondLst>
                                        </p:cTn>
                                        <p:tgtEl>
                                          <p:spTgt spid="8"/>
                                        </p:tgtEl>
                                        <p:attrNameLst>
                                          <p:attrName>style.visibility</p:attrName>
                                        </p:attrNameLst>
                                      </p:cBhvr>
                                      <p:to>
                                        <p:strVal val="visible"/>
                                      </p:to>
                                    </p:set>
                                    <p:animEffect transition="in" filter="fade">
                                      <p:cBhvr>
                                        <p:cTn id="63" dur="500"/>
                                        <p:tgtEl>
                                          <p:spTgt spid="8"/>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xit" presetSubtype="0" fill="hold" nodeType="clickEffect">
                                  <p:stCondLst>
                                    <p:cond delay="0"/>
                                  </p:stCondLst>
                                  <p:childTnLst>
                                    <p:animEffect transition="out" filter="fade">
                                      <p:cBhvr>
                                        <p:cTn id="67" dur="500"/>
                                        <p:tgtEl>
                                          <p:spTgt spid="8"/>
                                        </p:tgtEl>
                                      </p:cBhvr>
                                    </p:animEffect>
                                    <p:set>
                                      <p:cBhvr>
                                        <p:cTn id="68" dur="1" fill="hold">
                                          <p:stCondLst>
                                            <p:cond delay="499"/>
                                          </p:stCondLst>
                                        </p:cTn>
                                        <p:tgtEl>
                                          <p:spTgt spid="8"/>
                                        </p:tgtEl>
                                        <p:attrNameLst>
                                          <p:attrName>style.visibility</p:attrName>
                                        </p:attrNameLst>
                                      </p:cBhvr>
                                      <p:to>
                                        <p:strVal val="hidden"/>
                                      </p:to>
                                    </p:set>
                                  </p:childTnLst>
                                </p:cTn>
                              </p:par>
                              <p:par>
                                <p:cTn id="69" presetID="10" presetClass="entr" presetSubtype="0" fill="hold" nodeType="withEffect">
                                  <p:stCondLst>
                                    <p:cond delay="0"/>
                                  </p:stCondLst>
                                  <p:childTnLst>
                                    <p:set>
                                      <p:cBhvr>
                                        <p:cTn id="70" dur="1" fill="hold">
                                          <p:stCondLst>
                                            <p:cond delay="0"/>
                                          </p:stCondLst>
                                        </p:cTn>
                                        <p:tgtEl>
                                          <p:spTgt spid="9"/>
                                        </p:tgtEl>
                                        <p:attrNameLst>
                                          <p:attrName>style.visibility</p:attrName>
                                        </p:attrNameLst>
                                      </p:cBhvr>
                                      <p:to>
                                        <p:strVal val="visible"/>
                                      </p:to>
                                    </p:set>
                                    <p:animEffect transition="in" filter="fade">
                                      <p:cBhvr>
                                        <p:cTn id="71" dur="500"/>
                                        <p:tgtEl>
                                          <p:spTgt spid="9"/>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xit" presetSubtype="0" fill="hold" nodeType="clickEffect">
                                  <p:stCondLst>
                                    <p:cond delay="0"/>
                                  </p:stCondLst>
                                  <p:childTnLst>
                                    <p:animEffect transition="out" filter="fade">
                                      <p:cBhvr>
                                        <p:cTn id="75" dur="500"/>
                                        <p:tgtEl>
                                          <p:spTgt spid="9"/>
                                        </p:tgtEl>
                                      </p:cBhvr>
                                    </p:animEffect>
                                    <p:set>
                                      <p:cBhvr>
                                        <p:cTn id="76"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5043"/>
            <a:ext cx="10515600" cy="1280476"/>
          </a:xfrm>
        </p:spPr>
        <p:txBody>
          <a:bodyPr/>
          <a:lstStyle/>
          <a:p>
            <a:r>
              <a:rPr lang="en-IN" dirty="0"/>
              <a:t>Hypothesis Test </a:t>
            </a:r>
          </a:p>
        </p:txBody>
      </p:sp>
      <p:sp>
        <p:nvSpPr>
          <p:cNvPr id="3" name="Content Placeholder 2"/>
          <p:cNvSpPr>
            <a:spLocks noGrp="1"/>
          </p:cNvSpPr>
          <p:nvPr>
            <p:ph idx="1"/>
          </p:nvPr>
        </p:nvSpPr>
        <p:spPr>
          <a:xfrm>
            <a:off x="672077" y="1979832"/>
            <a:ext cx="10515600" cy="4351338"/>
          </a:xfrm>
        </p:spPr>
        <p:txBody>
          <a:bodyPr>
            <a:normAutofit/>
          </a:bodyPr>
          <a:lstStyle/>
          <a:p>
            <a:pPr>
              <a:buFont typeface="Wingdings" panose="05000000000000000000" pitchFamily="2" charset="2"/>
              <a:buChar char="Ø"/>
            </a:pPr>
            <a:r>
              <a:rPr lang="en-US" sz="2400" dirty="0">
                <a:solidFill>
                  <a:schemeClr val="tx1"/>
                </a:solidFill>
              </a:rPr>
              <a:t>To get better quality of crop and to secure neutrality of soil  the potash contain which increases Alkalinity of soil  and phosphate contain which increases the acidity of soil should be equal so we check the hypothesis of the mean of potash and phosphate contain of the various crops</a:t>
            </a:r>
            <a:endParaRPr lang="en-IN" sz="2400" dirty="0">
              <a:solidFill>
                <a:schemeClr val="tx1"/>
              </a:solidFill>
            </a:endParaRPr>
          </a:p>
          <a:p>
            <a:pPr>
              <a:buFont typeface="Wingdings" panose="05000000000000000000" pitchFamily="2" charset="2"/>
              <a:buChar char="Ø"/>
            </a:pPr>
            <a:r>
              <a:rPr lang="en-IN" sz="2400" dirty="0">
                <a:solidFill>
                  <a:schemeClr val="tx1"/>
                </a:solidFill>
              </a:rPr>
              <a:t>So again we find about variance of the data for these 2 to infer their spread over mean is same or not</a:t>
            </a:r>
          </a:p>
        </p:txBody>
      </p:sp>
      <p:graphicFrame>
        <p:nvGraphicFramePr>
          <p:cNvPr id="4" name="Table 4">
            <a:extLst>
              <a:ext uri="{FF2B5EF4-FFF2-40B4-BE49-F238E27FC236}">
                <a16:creationId xmlns:a16="http://schemas.microsoft.com/office/drawing/2014/main" id="{E27FD692-0B37-4BC7-8CA9-4A5DD8A6495B}"/>
              </a:ext>
            </a:extLst>
          </p:cNvPr>
          <p:cNvGraphicFramePr>
            <a:graphicFrameLocks noGrp="1"/>
          </p:cNvGraphicFramePr>
          <p:nvPr>
            <p:extLst>
              <p:ext uri="{D42A27DB-BD31-4B8C-83A1-F6EECF244321}">
                <p14:modId xmlns:p14="http://schemas.microsoft.com/office/powerpoint/2010/main" val="2636905595"/>
              </p:ext>
            </p:extLst>
          </p:nvPr>
        </p:nvGraphicFramePr>
        <p:xfrm>
          <a:off x="672077" y="4168397"/>
          <a:ext cx="4312158" cy="2194560"/>
        </p:xfrm>
        <a:graphic>
          <a:graphicData uri="http://schemas.openxmlformats.org/drawingml/2006/table">
            <a:tbl>
              <a:tblPr firstRow="1" bandRow="1">
                <a:tableStyleId>{5C22544A-7EE6-4342-B048-85BDC9FD1C3A}</a:tableStyleId>
              </a:tblPr>
              <a:tblGrid>
                <a:gridCol w="1027811">
                  <a:extLst>
                    <a:ext uri="{9D8B030D-6E8A-4147-A177-3AD203B41FA5}">
                      <a16:colId xmlns:a16="http://schemas.microsoft.com/office/drawing/2014/main" val="1522438900"/>
                    </a:ext>
                  </a:extLst>
                </a:gridCol>
                <a:gridCol w="1310386">
                  <a:extLst>
                    <a:ext uri="{9D8B030D-6E8A-4147-A177-3AD203B41FA5}">
                      <a16:colId xmlns:a16="http://schemas.microsoft.com/office/drawing/2014/main" val="2845865557"/>
                    </a:ext>
                  </a:extLst>
                </a:gridCol>
                <a:gridCol w="1973961">
                  <a:extLst>
                    <a:ext uri="{9D8B030D-6E8A-4147-A177-3AD203B41FA5}">
                      <a16:colId xmlns:a16="http://schemas.microsoft.com/office/drawing/2014/main" val="483660568"/>
                    </a:ext>
                  </a:extLst>
                </a:gridCol>
              </a:tblGrid>
              <a:tr h="247803">
                <a:tc>
                  <a:txBody>
                    <a:bodyPr/>
                    <a:lstStyle/>
                    <a:p>
                      <a:r>
                        <a:rPr lang="en-US" dirty="0"/>
                        <a:t>Crop</a:t>
                      </a:r>
                    </a:p>
                  </a:txBody>
                  <a:tcPr/>
                </a:tc>
                <a:tc>
                  <a:txBody>
                    <a:bodyPr/>
                    <a:lstStyle/>
                    <a:p>
                      <a:r>
                        <a:rPr lang="en-US" dirty="0"/>
                        <a:t>T-Test Stats</a:t>
                      </a:r>
                    </a:p>
                  </a:txBody>
                  <a:tcPr/>
                </a:tc>
                <a:tc>
                  <a:txBody>
                    <a:bodyPr/>
                    <a:lstStyle/>
                    <a:p>
                      <a:r>
                        <a:rPr lang="en-US" dirty="0"/>
                        <a:t>T value from Table</a:t>
                      </a:r>
                    </a:p>
                  </a:txBody>
                  <a:tcPr/>
                </a:tc>
                <a:extLst>
                  <a:ext uri="{0D108BD9-81ED-4DB2-BD59-A6C34878D82A}">
                    <a16:rowId xmlns:a16="http://schemas.microsoft.com/office/drawing/2014/main" val="2421704087"/>
                  </a:ext>
                </a:extLst>
              </a:tr>
              <a:tr h="247803">
                <a:tc>
                  <a:txBody>
                    <a:bodyPr/>
                    <a:lstStyle/>
                    <a:p>
                      <a:r>
                        <a:rPr lang="en-US" dirty="0"/>
                        <a:t>Corn</a:t>
                      </a:r>
                    </a:p>
                  </a:txBody>
                  <a:tcPr/>
                </a:tc>
                <a:tc>
                  <a:txBody>
                    <a:bodyPr/>
                    <a:lstStyle/>
                    <a:p>
                      <a:r>
                        <a:rPr lang="en-US" i="1" dirty="0"/>
                        <a:t>-1.66</a:t>
                      </a:r>
                    </a:p>
                  </a:txBody>
                  <a:tcPr/>
                </a:tc>
                <a:tc>
                  <a:txBody>
                    <a:bodyPr/>
                    <a:lstStyle/>
                    <a:p>
                      <a:r>
                        <a:rPr lang="en-US" i="1" dirty="0"/>
                        <a:t>1.99</a:t>
                      </a:r>
                    </a:p>
                  </a:txBody>
                  <a:tcPr/>
                </a:tc>
                <a:extLst>
                  <a:ext uri="{0D108BD9-81ED-4DB2-BD59-A6C34878D82A}">
                    <a16:rowId xmlns:a16="http://schemas.microsoft.com/office/drawing/2014/main" val="2640329072"/>
                  </a:ext>
                </a:extLst>
              </a:tr>
              <a:tr h="247803">
                <a:tc>
                  <a:txBody>
                    <a:bodyPr/>
                    <a:lstStyle/>
                    <a:p>
                      <a:r>
                        <a:rPr lang="en-US" dirty="0"/>
                        <a:t>Cotton</a:t>
                      </a:r>
                    </a:p>
                  </a:txBody>
                  <a:tcPr/>
                </a:tc>
                <a:tc>
                  <a:txBody>
                    <a:bodyPr/>
                    <a:lstStyle/>
                    <a:p>
                      <a:r>
                        <a:rPr lang="en-US" i="1" dirty="0"/>
                        <a:t>1.10</a:t>
                      </a:r>
                    </a:p>
                  </a:txBody>
                  <a:tcPr/>
                </a:tc>
                <a:tc>
                  <a:txBody>
                    <a:bodyPr/>
                    <a:lstStyle/>
                    <a:p>
                      <a:r>
                        <a:rPr lang="en-US" i="1" dirty="0"/>
                        <a:t>2.02</a:t>
                      </a:r>
                    </a:p>
                  </a:txBody>
                  <a:tcPr/>
                </a:tc>
                <a:extLst>
                  <a:ext uri="{0D108BD9-81ED-4DB2-BD59-A6C34878D82A}">
                    <a16:rowId xmlns:a16="http://schemas.microsoft.com/office/drawing/2014/main" val="4153807896"/>
                  </a:ext>
                </a:extLst>
              </a:tr>
              <a:tr h="247803">
                <a:tc>
                  <a:txBody>
                    <a:bodyPr/>
                    <a:lstStyle/>
                    <a:p>
                      <a:r>
                        <a:rPr lang="en-US" dirty="0"/>
                        <a:t>Soybean</a:t>
                      </a:r>
                    </a:p>
                  </a:txBody>
                  <a:tcPr/>
                </a:tc>
                <a:tc>
                  <a:txBody>
                    <a:bodyPr/>
                    <a:lstStyle/>
                    <a:p>
                      <a:r>
                        <a:rPr lang="en-US" dirty="0"/>
                        <a:t>-9.80</a:t>
                      </a:r>
                    </a:p>
                  </a:txBody>
                  <a:tcPr/>
                </a:tc>
                <a:tc>
                  <a:txBody>
                    <a:bodyPr/>
                    <a:lstStyle/>
                    <a:p>
                      <a:r>
                        <a:rPr lang="en-US" dirty="0"/>
                        <a:t>2.08</a:t>
                      </a:r>
                    </a:p>
                  </a:txBody>
                  <a:tcPr/>
                </a:tc>
                <a:extLst>
                  <a:ext uri="{0D108BD9-81ED-4DB2-BD59-A6C34878D82A}">
                    <a16:rowId xmlns:a16="http://schemas.microsoft.com/office/drawing/2014/main" val="3457363985"/>
                  </a:ext>
                </a:extLst>
              </a:tr>
              <a:tr h="247803">
                <a:tc>
                  <a:txBody>
                    <a:bodyPr/>
                    <a:lstStyle/>
                    <a:p>
                      <a:r>
                        <a:rPr lang="en-US" dirty="0"/>
                        <a:t>Wheat</a:t>
                      </a:r>
                    </a:p>
                  </a:txBody>
                  <a:tcPr/>
                </a:tc>
                <a:tc>
                  <a:txBody>
                    <a:bodyPr/>
                    <a:lstStyle/>
                    <a:p>
                      <a:r>
                        <a:rPr lang="en-US" dirty="0"/>
                        <a:t>20.39</a:t>
                      </a:r>
                    </a:p>
                  </a:txBody>
                  <a:tcPr/>
                </a:tc>
                <a:tc>
                  <a:txBody>
                    <a:bodyPr/>
                    <a:lstStyle/>
                    <a:p>
                      <a:r>
                        <a:rPr lang="en-US" dirty="0"/>
                        <a:t>1.99</a:t>
                      </a:r>
                    </a:p>
                  </a:txBody>
                  <a:tcPr/>
                </a:tc>
                <a:extLst>
                  <a:ext uri="{0D108BD9-81ED-4DB2-BD59-A6C34878D82A}">
                    <a16:rowId xmlns:a16="http://schemas.microsoft.com/office/drawing/2014/main" val="1149289072"/>
                  </a:ext>
                </a:extLst>
              </a:tr>
              <a:tr h="247803">
                <a:tc>
                  <a:txBody>
                    <a:bodyPr/>
                    <a:lstStyle/>
                    <a:p>
                      <a:r>
                        <a:rPr lang="en-US" dirty="0"/>
                        <a:t>Other</a:t>
                      </a:r>
                    </a:p>
                  </a:txBody>
                  <a:tcPr/>
                </a:tc>
                <a:tc>
                  <a:txBody>
                    <a:bodyPr/>
                    <a:lstStyle/>
                    <a:p>
                      <a:r>
                        <a:rPr lang="en-US" dirty="0"/>
                        <a:t>-5.42</a:t>
                      </a:r>
                    </a:p>
                  </a:txBody>
                  <a:tcPr/>
                </a:tc>
                <a:tc>
                  <a:txBody>
                    <a:bodyPr/>
                    <a:lstStyle/>
                    <a:p>
                      <a:r>
                        <a:rPr lang="en-US" dirty="0"/>
                        <a:t>1.98</a:t>
                      </a:r>
                    </a:p>
                  </a:txBody>
                  <a:tcPr/>
                </a:tc>
                <a:extLst>
                  <a:ext uri="{0D108BD9-81ED-4DB2-BD59-A6C34878D82A}">
                    <a16:rowId xmlns:a16="http://schemas.microsoft.com/office/drawing/2014/main" val="3553594001"/>
                  </a:ext>
                </a:extLst>
              </a:tr>
            </a:tbl>
          </a:graphicData>
        </a:graphic>
      </p:graphicFrame>
      <p:graphicFrame>
        <p:nvGraphicFramePr>
          <p:cNvPr id="6" name="Table 6">
            <a:extLst>
              <a:ext uri="{FF2B5EF4-FFF2-40B4-BE49-F238E27FC236}">
                <a16:creationId xmlns:a16="http://schemas.microsoft.com/office/drawing/2014/main" id="{90E2088F-F4A2-4932-9E10-6242F0F9996B}"/>
              </a:ext>
            </a:extLst>
          </p:cNvPr>
          <p:cNvGraphicFramePr>
            <a:graphicFrameLocks noGrp="1"/>
          </p:cNvGraphicFramePr>
          <p:nvPr>
            <p:extLst>
              <p:ext uri="{D42A27DB-BD31-4B8C-83A1-F6EECF244321}">
                <p14:modId xmlns:p14="http://schemas.microsoft.com/office/powerpoint/2010/main" val="3242431292"/>
              </p:ext>
            </p:extLst>
          </p:nvPr>
        </p:nvGraphicFramePr>
        <p:xfrm>
          <a:off x="5213280" y="4155501"/>
          <a:ext cx="3988973" cy="1112520"/>
        </p:xfrm>
        <a:graphic>
          <a:graphicData uri="http://schemas.openxmlformats.org/drawingml/2006/table">
            <a:tbl>
              <a:tblPr firstRow="1" bandRow="1">
                <a:tableStyleId>{5C22544A-7EE6-4342-B048-85BDC9FD1C3A}</a:tableStyleId>
              </a:tblPr>
              <a:tblGrid>
                <a:gridCol w="866394">
                  <a:extLst>
                    <a:ext uri="{9D8B030D-6E8A-4147-A177-3AD203B41FA5}">
                      <a16:colId xmlns:a16="http://schemas.microsoft.com/office/drawing/2014/main" val="759331041"/>
                    </a:ext>
                  </a:extLst>
                </a:gridCol>
                <a:gridCol w="1178116">
                  <a:extLst>
                    <a:ext uri="{9D8B030D-6E8A-4147-A177-3AD203B41FA5}">
                      <a16:colId xmlns:a16="http://schemas.microsoft.com/office/drawing/2014/main" val="3912579257"/>
                    </a:ext>
                  </a:extLst>
                </a:gridCol>
                <a:gridCol w="1944463">
                  <a:extLst>
                    <a:ext uri="{9D8B030D-6E8A-4147-A177-3AD203B41FA5}">
                      <a16:colId xmlns:a16="http://schemas.microsoft.com/office/drawing/2014/main" val="4272654711"/>
                    </a:ext>
                  </a:extLst>
                </a:gridCol>
              </a:tblGrid>
              <a:tr h="370840">
                <a:tc>
                  <a:txBody>
                    <a:bodyPr/>
                    <a:lstStyle/>
                    <a:p>
                      <a:r>
                        <a:rPr lang="en-US" dirty="0"/>
                        <a:t>Crop</a:t>
                      </a:r>
                    </a:p>
                  </a:txBody>
                  <a:tcPr/>
                </a:tc>
                <a:tc>
                  <a:txBody>
                    <a:bodyPr/>
                    <a:lstStyle/>
                    <a:p>
                      <a:r>
                        <a:rPr lang="en-US" dirty="0"/>
                        <a:t>F-test Stat</a:t>
                      </a:r>
                    </a:p>
                  </a:txBody>
                  <a:tcPr/>
                </a:tc>
                <a:tc>
                  <a:txBody>
                    <a:bodyPr/>
                    <a:lstStyle/>
                    <a:p>
                      <a:r>
                        <a:rPr lang="en-US" dirty="0"/>
                        <a:t>F value from Table</a:t>
                      </a:r>
                    </a:p>
                  </a:txBody>
                  <a:tcPr/>
                </a:tc>
                <a:extLst>
                  <a:ext uri="{0D108BD9-81ED-4DB2-BD59-A6C34878D82A}">
                    <a16:rowId xmlns:a16="http://schemas.microsoft.com/office/drawing/2014/main" val="1257743776"/>
                  </a:ext>
                </a:extLst>
              </a:tr>
              <a:tr h="370840">
                <a:tc>
                  <a:txBody>
                    <a:bodyPr/>
                    <a:lstStyle/>
                    <a:p>
                      <a:r>
                        <a:rPr lang="en-US" dirty="0"/>
                        <a:t>Corn</a:t>
                      </a:r>
                    </a:p>
                  </a:txBody>
                  <a:tcPr/>
                </a:tc>
                <a:tc>
                  <a:txBody>
                    <a:bodyPr/>
                    <a:lstStyle/>
                    <a:p>
                      <a:r>
                        <a:rPr lang="en-US" dirty="0"/>
                        <a:t>0.64</a:t>
                      </a:r>
                    </a:p>
                  </a:txBody>
                  <a:tcPr/>
                </a:tc>
                <a:tc>
                  <a:txBody>
                    <a:bodyPr/>
                    <a:lstStyle/>
                    <a:p>
                      <a:r>
                        <a:rPr lang="en-US" dirty="0"/>
                        <a:t>1.88</a:t>
                      </a:r>
                    </a:p>
                  </a:txBody>
                  <a:tcPr/>
                </a:tc>
                <a:extLst>
                  <a:ext uri="{0D108BD9-81ED-4DB2-BD59-A6C34878D82A}">
                    <a16:rowId xmlns:a16="http://schemas.microsoft.com/office/drawing/2014/main" val="897004476"/>
                  </a:ext>
                </a:extLst>
              </a:tr>
              <a:tr h="370840">
                <a:tc>
                  <a:txBody>
                    <a:bodyPr/>
                    <a:lstStyle/>
                    <a:p>
                      <a:r>
                        <a:rPr lang="en-US" dirty="0"/>
                        <a:t>Cotton</a:t>
                      </a:r>
                    </a:p>
                  </a:txBody>
                  <a:tcPr/>
                </a:tc>
                <a:tc>
                  <a:txBody>
                    <a:bodyPr/>
                    <a:lstStyle/>
                    <a:p>
                      <a:r>
                        <a:rPr lang="en-US" dirty="0"/>
                        <a:t>2.26</a:t>
                      </a:r>
                    </a:p>
                  </a:txBody>
                  <a:tcPr/>
                </a:tc>
                <a:tc>
                  <a:txBody>
                    <a:bodyPr/>
                    <a:lstStyle/>
                    <a:p>
                      <a:r>
                        <a:rPr lang="en-US" dirty="0"/>
                        <a:t>1.88</a:t>
                      </a:r>
                    </a:p>
                  </a:txBody>
                  <a:tcPr/>
                </a:tc>
                <a:extLst>
                  <a:ext uri="{0D108BD9-81ED-4DB2-BD59-A6C34878D82A}">
                    <a16:rowId xmlns:a16="http://schemas.microsoft.com/office/drawing/2014/main" val="1700201155"/>
                  </a:ext>
                </a:extLst>
              </a:tr>
            </a:tbl>
          </a:graphicData>
        </a:graphic>
      </p:graphicFrame>
      <p:pic>
        <p:nvPicPr>
          <p:cNvPr id="9" name="Picture 8">
            <a:extLst>
              <a:ext uri="{FF2B5EF4-FFF2-40B4-BE49-F238E27FC236}">
                <a16:creationId xmlns:a16="http://schemas.microsoft.com/office/drawing/2014/main" id="{5BB51443-1F5E-48AD-BAFB-1FCF51A104A0}"/>
              </a:ext>
            </a:extLst>
          </p:cNvPr>
          <p:cNvPicPr>
            <a:picLocks noChangeAspect="1"/>
          </p:cNvPicPr>
          <p:nvPr/>
        </p:nvPicPr>
        <p:blipFill>
          <a:blip r:embed="rId2"/>
          <a:stretch>
            <a:fillRect/>
          </a:stretch>
        </p:blipFill>
        <p:spPr>
          <a:xfrm>
            <a:off x="8018586" y="5018071"/>
            <a:ext cx="3629464" cy="1280476"/>
          </a:xfrm>
          <a:prstGeom prst="rect">
            <a:avLst/>
          </a:prstGeom>
        </p:spPr>
      </p:pic>
    </p:spTree>
    <p:extLst>
      <p:ext uri="{BB962C8B-B14F-4D97-AF65-F5344CB8AC3E}">
        <p14:creationId xmlns:p14="http://schemas.microsoft.com/office/powerpoint/2010/main" val="833027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Regression</a:t>
            </a:r>
          </a:p>
        </p:txBody>
      </p:sp>
      <p:sp>
        <p:nvSpPr>
          <p:cNvPr id="3" name="Content Placeholder 2"/>
          <p:cNvSpPr>
            <a:spLocks noGrp="1"/>
          </p:cNvSpPr>
          <p:nvPr>
            <p:ph idx="1"/>
          </p:nvPr>
        </p:nvSpPr>
        <p:spPr/>
        <p:txBody>
          <a:bodyPr/>
          <a:lstStyle/>
          <a:p>
            <a:r>
              <a:rPr lang="en-US" dirty="0">
                <a:solidFill>
                  <a:schemeClr val="tx1"/>
                </a:solidFill>
              </a:rPr>
              <a:t>While preparation any fertilizers manufacturer always defines a specific amount of Phosphate and potash after that Nitrogen contain is added to maintain concentration.so find the regression analysis of the data being nitrogen as dependent variable and Phosphate and potash are independent variable</a:t>
            </a:r>
          </a:p>
          <a:p>
            <a:endParaRPr lang="en-IN" dirty="0"/>
          </a:p>
          <a:p>
            <a:endParaRPr lang="en-IN" dirty="0"/>
          </a:p>
        </p:txBody>
      </p:sp>
      <p:graphicFrame>
        <p:nvGraphicFramePr>
          <p:cNvPr id="4" name="Table 4">
            <a:extLst>
              <a:ext uri="{FF2B5EF4-FFF2-40B4-BE49-F238E27FC236}">
                <a16:creationId xmlns:a16="http://schemas.microsoft.com/office/drawing/2014/main" id="{E9E470D4-767A-4045-A7C7-75F7549873D1}"/>
              </a:ext>
            </a:extLst>
          </p:cNvPr>
          <p:cNvGraphicFramePr>
            <a:graphicFrameLocks noGrp="1"/>
          </p:cNvGraphicFramePr>
          <p:nvPr>
            <p:extLst>
              <p:ext uri="{D42A27DB-BD31-4B8C-83A1-F6EECF244321}">
                <p14:modId xmlns:p14="http://schemas.microsoft.com/office/powerpoint/2010/main" val="284970970"/>
              </p:ext>
            </p:extLst>
          </p:nvPr>
        </p:nvGraphicFramePr>
        <p:xfrm>
          <a:off x="1271640" y="3429000"/>
          <a:ext cx="9648720" cy="222504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453306003"/>
                    </a:ext>
                  </a:extLst>
                </a:gridCol>
                <a:gridCol w="6658166">
                  <a:extLst>
                    <a:ext uri="{9D8B030D-6E8A-4147-A177-3AD203B41FA5}">
                      <a16:colId xmlns:a16="http://schemas.microsoft.com/office/drawing/2014/main" val="3265708423"/>
                    </a:ext>
                  </a:extLst>
                </a:gridCol>
                <a:gridCol w="1635887">
                  <a:extLst>
                    <a:ext uri="{9D8B030D-6E8A-4147-A177-3AD203B41FA5}">
                      <a16:colId xmlns:a16="http://schemas.microsoft.com/office/drawing/2014/main" val="1560533486"/>
                    </a:ext>
                  </a:extLst>
                </a:gridCol>
              </a:tblGrid>
              <a:tr h="370840">
                <a:tc>
                  <a:txBody>
                    <a:bodyPr/>
                    <a:lstStyle/>
                    <a:p>
                      <a:r>
                        <a:rPr lang="en-US" dirty="0"/>
                        <a:t>Crops</a:t>
                      </a:r>
                    </a:p>
                  </a:txBody>
                  <a:tcPr/>
                </a:tc>
                <a:tc>
                  <a:txBody>
                    <a:bodyPr/>
                    <a:lstStyle/>
                    <a:p>
                      <a:r>
                        <a:rPr lang="en-US" dirty="0"/>
                        <a:t>Equation</a:t>
                      </a:r>
                    </a:p>
                  </a:txBody>
                  <a:tcPr/>
                </a:tc>
                <a:tc>
                  <a:txBody>
                    <a:bodyPr/>
                    <a:lstStyle/>
                    <a:p>
                      <a:r>
                        <a:rPr lang="en-US" dirty="0"/>
                        <a:t>R-square value</a:t>
                      </a:r>
                    </a:p>
                  </a:txBody>
                  <a:tcPr/>
                </a:tc>
                <a:extLst>
                  <a:ext uri="{0D108BD9-81ED-4DB2-BD59-A6C34878D82A}">
                    <a16:rowId xmlns:a16="http://schemas.microsoft.com/office/drawing/2014/main" val="3295471059"/>
                  </a:ext>
                </a:extLst>
              </a:tr>
              <a:tr h="370840">
                <a:tc>
                  <a:txBody>
                    <a:bodyPr/>
                    <a:lstStyle/>
                    <a:p>
                      <a:r>
                        <a:rPr lang="en-US" dirty="0"/>
                        <a:t>Corn</a:t>
                      </a:r>
                    </a:p>
                  </a:txBody>
                  <a:tcPr/>
                </a:tc>
                <a:tc>
                  <a:txBody>
                    <a:bodyPr/>
                    <a:lstStyle/>
                    <a:p>
                      <a:pPr marL="0" marR="0">
                        <a:lnSpc>
                          <a:spcPct val="107000"/>
                        </a:lnSpc>
                        <a:spcBef>
                          <a:spcPts val="450"/>
                        </a:spcBef>
                        <a:spcAft>
                          <a:spcPts val="0"/>
                        </a:spcAft>
                      </a:pPr>
                      <a:r>
                        <a:rPr lang="en-US" sz="1600" dirty="0">
                          <a:effectLst/>
                          <a:latin typeface="+mn-lt"/>
                          <a:ea typeface="Times New Roman" panose="02020603050405020304" pitchFamily="18" charset="0"/>
                          <a:cs typeface="Mangal" panose="02040503050203030202" pitchFamily="18" charset="0"/>
                        </a:rPr>
                        <a:t>Nitrogen Corn </a:t>
                      </a:r>
                      <a:r>
                        <a:rPr lang="en-US" sz="1600" dirty="0">
                          <a:solidFill>
                            <a:srgbClr val="000000"/>
                          </a:solidFill>
                          <a:effectLst/>
                          <a:latin typeface="+mn-lt"/>
                          <a:ea typeface="Times New Roman" panose="02020603050405020304" pitchFamily="18" charset="0"/>
                          <a:cs typeface="Mangal" panose="02040503050203030202" pitchFamily="18" charset="0"/>
                        </a:rPr>
                        <a:t>=3174 + 0.123 Phosphate Corn + 0.598 Potash Corn</a:t>
                      </a:r>
                      <a:endParaRPr lang="en-US" sz="1600" dirty="0">
                        <a:effectLst/>
                        <a:latin typeface="+mn-lt"/>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800" dirty="0">
                          <a:effectLst/>
                          <a:latin typeface="Calibri" panose="020F0502020204030204" pitchFamily="34" charset="0"/>
                          <a:ea typeface="Calibri" panose="020F0502020204030204" pitchFamily="34" charset="0"/>
                          <a:cs typeface="Mangal" panose="02040503050203030202" pitchFamily="18" charset="0"/>
                        </a:rPr>
                        <a:t>22.74</a:t>
                      </a:r>
                    </a:p>
                  </a:txBody>
                  <a:tcPr marL="66675" marR="66675" marT="9525" marB="9525"/>
                </a:tc>
                <a:extLst>
                  <a:ext uri="{0D108BD9-81ED-4DB2-BD59-A6C34878D82A}">
                    <a16:rowId xmlns:a16="http://schemas.microsoft.com/office/drawing/2014/main" val="1087518513"/>
                  </a:ext>
                </a:extLst>
              </a:tr>
              <a:tr h="370840">
                <a:tc>
                  <a:txBody>
                    <a:bodyPr/>
                    <a:lstStyle/>
                    <a:p>
                      <a:r>
                        <a:rPr lang="en-US" dirty="0"/>
                        <a:t>Cotton</a:t>
                      </a:r>
                    </a:p>
                  </a:txBody>
                  <a:tcPr/>
                </a:tc>
                <a:tc>
                  <a:txBody>
                    <a:bodyPr/>
                    <a:lstStyle/>
                    <a:p>
                      <a:pPr marL="0" marR="0">
                        <a:lnSpc>
                          <a:spcPct val="107000"/>
                        </a:lnSpc>
                        <a:spcBef>
                          <a:spcPts val="450"/>
                        </a:spcBef>
                        <a:spcAft>
                          <a:spcPts val="0"/>
                        </a:spcAft>
                      </a:pPr>
                      <a:r>
                        <a:rPr lang="en-US" sz="1600" dirty="0">
                          <a:effectLst/>
                          <a:latin typeface="+mn-lt"/>
                          <a:ea typeface="Times New Roman" panose="02020603050405020304" pitchFamily="18" charset="0"/>
                          <a:cs typeface="Mangal" panose="02040503050203030202" pitchFamily="18" charset="0"/>
                        </a:rPr>
                        <a:t>Nitrogen Cotton</a:t>
                      </a:r>
                      <a:r>
                        <a:rPr lang="en-US" sz="1600" dirty="0">
                          <a:solidFill>
                            <a:srgbClr val="000000"/>
                          </a:solidFill>
                          <a:effectLst/>
                          <a:latin typeface="+mn-lt"/>
                          <a:ea typeface="Times New Roman" panose="02020603050405020304" pitchFamily="18" charset="0"/>
                          <a:cs typeface="Mangal" panose="02040503050203030202" pitchFamily="18" charset="0"/>
                        </a:rPr>
                        <a:t>=146.9 + 1.376 Phosphate Cotton + 0.324 Potash Cotton</a:t>
                      </a:r>
                      <a:endParaRPr lang="en-US" sz="1600" dirty="0">
                        <a:effectLst/>
                        <a:latin typeface="+mn-lt"/>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800" dirty="0">
                          <a:effectLst/>
                          <a:latin typeface="Calibri" panose="020F0502020204030204" pitchFamily="34" charset="0"/>
                          <a:ea typeface="Calibri" panose="020F0502020204030204" pitchFamily="34" charset="0"/>
                          <a:cs typeface="Mangal" panose="02040503050203030202" pitchFamily="18" charset="0"/>
                        </a:rPr>
                        <a:t>57.63</a:t>
                      </a:r>
                    </a:p>
                  </a:txBody>
                  <a:tcPr marL="66675" marR="66675" marT="9525" marB="9525"/>
                </a:tc>
                <a:extLst>
                  <a:ext uri="{0D108BD9-81ED-4DB2-BD59-A6C34878D82A}">
                    <a16:rowId xmlns:a16="http://schemas.microsoft.com/office/drawing/2014/main" val="3078476123"/>
                  </a:ext>
                </a:extLst>
              </a:tr>
              <a:tr h="370840">
                <a:tc>
                  <a:txBody>
                    <a:bodyPr/>
                    <a:lstStyle/>
                    <a:p>
                      <a:r>
                        <a:rPr lang="en-US" dirty="0"/>
                        <a:t>Soybean</a:t>
                      </a:r>
                    </a:p>
                  </a:txBody>
                  <a:tcPr/>
                </a:tc>
                <a:tc>
                  <a:txBody>
                    <a:bodyPr/>
                    <a:lstStyle/>
                    <a:p>
                      <a:pPr marL="0" marR="0">
                        <a:lnSpc>
                          <a:spcPct val="107000"/>
                        </a:lnSpc>
                        <a:spcBef>
                          <a:spcPts val="450"/>
                        </a:spcBef>
                        <a:spcAft>
                          <a:spcPts val="0"/>
                        </a:spcAft>
                      </a:pPr>
                      <a:r>
                        <a:rPr lang="en-US" sz="1600" dirty="0">
                          <a:effectLst/>
                          <a:latin typeface="+mn-lt"/>
                          <a:ea typeface="Times New Roman" panose="02020603050405020304" pitchFamily="18" charset="0"/>
                          <a:cs typeface="Mangal" panose="02040503050203030202" pitchFamily="18" charset="0"/>
                        </a:rPr>
                        <a:t>Nitrogen Soybean</a:t>
                      </a:r>
                      <a:r>
                        <a:rPr lang="en-US" sz="1600" dirty="0">
                          <a:solidFill>
                            <a:srgbClr val="000000"/>
                          </a:solidFill>
                          <a:effectLst/>
                          <a:latin typeface="+mn-lt"/>
                          <a:ea typeface="Times New Roman" panose="02020603050405020304" pitchFamily="18" charset="0"/>
                          <a:cs typeface="Mangal" panose="02040503050203030202" pitchFamily="18" charset="0"/>
                        </a:rPr>
                        <a:t>=15.4 + 0.0170 Phosphate Soybean + 0.1353 Potash Soybean</a:t>
                      </a:r>
                      <a:endParaRPr lang="en-US" sz="1600" dirty="0">
                        <a:effectLst/>
                        <a:latin typeface="+mn-lt"/>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800" dirty="0">
                          <a:effectLst/>
                          <a:latin typeface="Calibri" panose="020F0502020204030204" pitchFamily="34" charset="0"/>
                          <a:ea typeface="Calibri" panose="020F0502020204030204" pitchFamily="34" charset="0"/>
                          <a:cs typeface="Mangal" panose="02040503050203030202" pitchFamily="18" charset="0"/>
                        </a:rPr>
                        <a:t>66.93</a:t>
                      </a:r>
                    </a:p>
                  </a:txBody>
                  <a:tcPr marL="66675" marR="66675" marT="9525" marB="9525"/>
                </a:tc>
                <a:extLst>
                  <a:ext uri="{0D108BD9-81ED-4DB2-BD59-A6C34878D82A}">
                    <a16:rowId xmlns:a16="http://schemas.microsoft.com/office/drawing/2014/main" val="1547391331"/>
                  </a:ext>
                </a:extLst>
              </a:tr>
              <a:tr h="370840">
                <a:tc>
                  <a:txBody>
                    <a:bodyPr/>
                    <a:lstStyle/>
                    <a:p>
                      <a:r>
                        <a:rPr lang="en-US" dirty="0"/>
                        <a:t>Wheat</a:t>
                      </a:r>
                    </a:p>
                  </a:txBody>
                  <a:tcPr/>
                </a:tc>
                <a:tc>
                  <a:txBody>
                    <a:bodyPr/>
                    <a:lstStyle/>
                    <a:p>
                      <a:pPr marL="0" marR="0">
                        <a:lnSpc>
                          <a:spcPct val="107000"/>
                        </a:lnSpc>
                        <a:spcBef>
                          <a:spcPts val="450"/>
                        </a:spcBef>
                        <a:spcAft>
                          <a:spcPts val="0"/>
                        </a:spcAft>
                      </a:pPr>
                      <a:r>
                        <a:rPr lang="en-US" sz="1600" dirty="0">
                          <a:effectLst/>
                          <a:latin typeface="+mn-lt"/>
                          <a:ea typeface="Times New Roman" panose="02020603050405020304" pitchFamily="18" charset="0"/>
                          <a:cs typeface="Mangal" panose="02040503050203030202" pitchFamily="18" charset="0"/>
                        </a:rPr>
                        <a:t>Nitrogen Wheat</a:t>
                      </a:r>
                      <a:r>
                        <a:rPr lang="en-US" sz="1600" dirty="0">
                          <a:solidFill>
                            <a:srgbClr val="000000"/>
                          </a:solidFill>
                          <a:effectLst/>
                          <a:latin typeface="+mn-lt"/>
                          <a:ea typeface="Times New Roman" panose="02020603050405020304" pitchFamily="18" charset="0"/>
                          <a:cs typeface="Mangal" panose="02040503050203030202" pitchFamily="18" charset="0"/>
                        </a:rPr>
                        <a:t>=-466 + 4.161 Phosphate Wheat - 2.364 Potash Wheat</a:t>
                      </a:r>
                      <a:endParaRPr lang="en-US" sz="1600" dirty="0">
                        <a:effectLst/>
                        <a:latin typeface="+mn-lt"/>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800" dirty="0">
                          <a:effectLst/>
                          <a:latin typeface="Calibri" panose="020F0502020204030204" pitchFamily="34" charset="0"/>
                          <a:ea typeface="Calibri" panose="020F0502020204030204" pitchFamily="34" charset="0"/>
                          <a:cs typeface="Mangal" panose="02040503050203030202" pitchFamily="18" charset="0"/>
                        </a:rPr>
                        <a:t>73.58</a:t>
                      </a:r>
                    </a:p>
                  </a:txBody>
                  <a:tcPr marL="66675" marR="66675" marT="9525" marB="9525"/>
                </a:tc>
                <a:extLst>
                  <a:ext uri="{0D108BD9-81ED-4DB2-BD59-A6C34878D82A}">
                    <a16:rowId xmlns:a16="http://schemas.microsoft.com/office/drawing/2014/main" val="1715579458"/>
                  </a:ext>
                </a:extLst>
              </a:tr>
              <a:tr h="370840">
                <a:tc>
                  <a:txBody>
                    <a:bodyPr/>
                    <a:lstStyle/>
                    <a:p>
                      <a:r>
                        <a:rPr lang="en-US" dirty="0"/>
                        <a:t>Other</a:t>
                      </a:r>
                    </a:p>
                  </a:txBody>
                  <a:tcPr/>
                </a:tc>
                <a:tc>
                  <a:txBody>
                    <a:bodyPr/>
                    <a:lstStyle/>
                    <a:p>
                      <a:pPr marL="0" marR="0">
                        <a:lnSpc>
                          <a:spcPct val="107000"/>
                        </a:lnSpc>
                        <a:spcBef>
                          <a:spcPts val="450"/>
                        </a:spcBef>
                        <a:spcAft>
                          <a:spcPts val="0"/>
                        </a:spcAft>
                      </a:pPr>
                      <a:r>
                        <a:rPr lang="en-US" sz="1600" dirty="0">
                          <a:effectLst/>
                          <a:latin typeface="+mn-lt"/>
                          <a:ea typeface="Times New Roman" panose="02020603050405020304" pitchFamily="18" charset="0"/>
                          <a:cs typeface="Mangal" panose="02040503050203030202" pitchFamily="18" charset="0"/>
                        </a:rPr>
                        <a:t>Nitrogen Oth</a:t>
                      </a:r>
                      <a:r>
                        <a:rPr lang="en-US" sz="1600" dirty="0">
                          <a:solidFill>
                            <a:srgbClr val="000000"/>
                          </a:solidFill>
                          <a:effectLst/>
                          <a:latin typeface="+mn-lt"/>
                          <a:ea typeface="Times New Roman" panose="02020603050405020304" pitchFamily="18" charset="0"/>
                          <a:cs typeface="Mangal" panose="02040503050203030202" pitchFamily="18" charset="0"/>
                        </a:rPr>
                        <a:t>er=3810 - 0.855 Phosphate Other + 0.937 Potash Other</a:t>
                      </a:r>
                      <a:endParaRPr lang="en-US" sz="1600" dirty="0">
                        <a:effectLst/>
                        <a:latin typeface="+mn-lt"/>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800" dirty="0">
                          <a:effectLst/>
                          <a:latin typeface="Calibri" panose="020F0502020204030204" pitchFamily="34" charset="0"/>
                          <a:ea typeface="Calibri" panose="020F0502020204030204" pitchFamily="34" charset="0"/>
                          <a:cs typeface="Mangal" panose="02040503050203030202" pitchFamily="18" charset="0"/>
                        </a:rPr>
                        <a:t>10.12</a:t>
                      </a:r>
                    </a:p>
                  </a:txBody>
                  <a:tcPr marL="66675" marR="66675" marT="9525" marB="9525"/>
                </a:tc>
                <a:extLst>
                  <a:ext uri="{0D108BD9-81ED-4DB2-BD59-A6C34878D82A}">
                    <a16:rowId xmlns:a16="http://schemas.microsoft.com/office/drawing/2014/main" val="2698320683"/>
                  </a:ext>
                </a:extLst>
              </a:tr>
            </a:tbl>
          </a:graphicData>
        </a:graphic>
      </p:graphicFrame>
    </p:spTree>
    <p:extLst>
      <p:ext uri="{BB962C8B-B14F-4D97-AF65-F5344CB8AC3E}">
        <p14:creationId xmlns:p14="http://schemas.microsoft.com/office/powerpoint/2010/main" val="1052124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874927"/>
          </a:xfrm>
        </p:spPr>
        <p:txBody>
          <a:bodyPr/>
          <a:lstStyle/>
          <a:p>
            <a:r>
              <a:rPr lang="en-IN" dirty="0"/>
              <a:t>ANOVA</a:t>
            </a:r>
          </a:p>
        </p:txBody>
      </p:sp>
      <p:sp>
        <p:nvSpPr>
          <p:cNvPr id="3" name="Content Placeholder 2"/>
          <p:cNvSpPr>
            <a:spLocks noGrp="1"/>
          </p:cNvSpPr>
          <p:nvPr>
            <p:ph idx="1"/>
          </p:nvPr>
        </p:nvSpPr>
        <p:spPr>
          <a:xfrm>
            <a:off x="1097280" y="2113020"/>
            <a:ext cx="10058400" cy="4023360"/>
          </a:xfrm>
        </p:spPr>
        <p:txBody>
          <a:bodyPr/>
          <a:lstStyle/>
          <a:p>
            <a:pPr>
              <a:buFont typeface="Wingdings" panose="05000000000000000000" pitchFamily="2" charset="2"/>
              <a:buChar char="Ø"/>
            </a:pPr>
            <a:r>
              <a:rPr lang="en-IN" dirty="0">
                <a:solidFill>
                  <a:schemeClr val="tx1"/>
                </a:solidFill>
              </a:rPr>
              <a:t>Analysing the data to verify </a:t>
            </a:r>
            <a:r>
              <a:rPr lang="en-US" dirty="0">
                <a:solidFill>
                  <a:schemeClr val="tx1"/>
                </a:solidFill>
              </a:rPr>
              <a:t>if there is any effect of individual Plants and individual fertilizer content (Factors) on the Responses </a:t>
            </a:r>
          </a:p>
          <a:p>
            <a:pPr>
              <a:buFont typeface="Wingdings" panose="05000000000000000000" pitchFamily="2" charset="2"/>
              <a:buChar char="Ø"/>
            </a:pPr>
            <a:r>
              <a:rPr lang="en-US" dirty="0">
                <a:solidFill>
                  <a:schemeClr val="tx1"/>
                </a:solidFill>
              </a:rPr>
              <a:t> As well if there is any effect of interaction between the Plant and fertilizer content (Factor interaction) on the Responses</a:t>
            </a:r>
            <a:endParaRPr lang="en-IN" dirty="0">
              <a:solidFill>
                <a:schemeClr val="tx1"/>
              </a:solidFill>
            </a:endParaRPr>
          </a:p>
          <a:p>
            <a:pPr marL="0" indent="0">
              <a:buNone/>
            </a:pPr>
            <a:endParaRPr lang="en-IN" dirty="0"/>
          </a:p>
          <a:p>
            <a:endParaRPr lang="en-IN" dirty="0"/>
          </a:p>
        </p:txBody>
      </p:sp>
      <p:graphicFrame>
        <p:nvGraphicFramePr>
          <p:cNvPr id="4" name="Table 3">
            <a:extLst>
              <a:ext uri="{FF2B5EF4-FFF2-40B4-BE49-F238E27FC236}">
                <a16:creationId xmlns:a16="http://schemas.microsoft.com/office/drawing/2014/main" id="{38CE00BB-0685-4757-9DB8-3A6F81D6E359}"/>
              </a:ext>
            </a:extLst>
          </p:cNvPr>
          <p:cNvGraphicFramePr>
            <a:graphicFrameLocks noGrp="1"/>
          </p:cNvGraphicFramePr>
          <p:nvPr>
            <p:extLst>
              <p:ext uri="{D42A27DB-BD31-4B8C-83A1-F6EECF244321}">
                <p14:modId xmlns:p14="http://schemas.microsoft.com/office/powerpoint/2010/main" val="896861184"/>
              </p:ext>
            </p:extLst>
          </p:nvPr>
        </p:nvGraphicFramePr>
        <p:xfrm>
          <a:off x="495585" y="3705871"/>
          <a:ext cx="6512710" cy="2251520"/>
        </p:xfrm>
        <a:graphic>
          <a:graphicData uri="http://schemas.openxmlformats.org/drawingml/2006/table">
            <a:tbl>
              <a:tblPr firstRow="1" firstCol="1" bandRow="1">
                <a:tableStyleId>{5C22544A-7EE6-4342-B048-85BDC9FD1C3A}</a:tableStyleId>
              </a:tblPr>
              <a:tblGrid>
                <a:gridCol w="2395054">
                  <a:extLst>
                    <a:ext uri="{9D8B030D-6E8A-4147-A177-3AD203B41FA5}">
                      <a16:colId xmlns:a16="http://schemas.microsoft.com/office/drawing/2014/main" val="2698169393"/>
                    </a:ext>
                  </a:extLst>
                </a:gridCol>
                <a:gridCol w="468652">
                  <a:extLst>
                    <a:ext uri="{9D8B030D-6E8A-4147-A177-3AD203B41FA5}">
                      <a16:colId xmlns:a16="http://schemas.microsoft.com/office/drawing/2014/main" val="2571568930"/>
                    </a:ext>
                  </a:extLst>
                </a:gridCol>
                <a:gridCol w="1062074">
                  <a:extLst>
                    <a:ext uri="{9D8B030D-6E8A-4147-A177-3AD203B41FA5}">
                      <a16:colId xmlns:a16="http://schemas.microsoft.com/office/drawing/2014/main" val="257675510"/>
                    </a:ext>
                  </a:extLst>
                </a:gridCol>
                <a:gridCol w="963171">
                  <a:extLst>
                    <a:ext uri="{9D8B030D-6E8A-4147-A177-3AD203B41FA5}">
                      <a16:colId xmlns:a16="http://schemas.microsoft.com/office/drawing/2014/main" val="3371570886"/>
                    </a:ext>
                  </a:extLst>
                </a:gridCol>
                <a:gridCol w="804736">
                  <a:extLst>
                    <a:ext uri="{9D8B030D-6E8A-4147-A177-3AD203B41FA5}">
                      <a16:colId xmlns:a16="http://schemas.microsoft.com/office/drawing/2014/main" val="3000384239"/>
                    </a:ext>
                  </a:extLst>
                </a:gridCol>
                <a:gridCol w="819023">
                  <a:extLst>
                    <a:ext uri="{9D8B030D-6E8A-4147-A177-3AD203B41FA5}">
                      <a16:colId xmlns:a16="http://schemas.microsoft.com/office/drawing/2014/main" val="590403658"/>
                    </a:ext>
                  </a:extLst>
                </a:gridCol>
              </a:tblGrid>
              <a:tr h="267273">
                <a:tc>
                  <a:txBody>
                    <a:bodyPr/>
                    <a:lstStyle/>
                    <a:p>
                      <a:pPr marL="0" marR="0" algn="ctr">
                        <a:lnSpc>
                          <a:spcPct val="107000"/>
                        </a:lnSpc>
                        <a:spcBef>
                          <a:spcPts val="450"/>
                        </a:spcBef>
                        <a:spcAft>
                          <a:spcPts val="0"/>
                        </a:spcAft>
                      </a:pPr>
                      <a:r>
                        <a:rPr lang="en-US" sz="1600" dirty="0">
                          <a:effectLst/>
                        </a:rPr>
                        <a:t>Source</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nchor="b"/>
                </a:tc>
                <a:tc>
                  <a:txBody>
                    <a:bodyPr/>
                    <a:lstStyle/>
                    <a:p>
                      <a:pPr marL="0" marR="0" algn="ctr">
                        <a:lnSpc>
                          <a:spcPct val="107000"/>
                        </a:lnSpc>
                        <a:spcBef>
                          <a:spcPts val="450"/>
                        </a:spcBef>
                        <a:spcAft>
                          <a:spcPts val="0"/>
                        </a:spcAft>
                      </a:pPr>
                      <a:r>
                        <a:rPr lang="en-US" sz="1600" dirty="0">
                          <a:effectLst/>
                        </a:rPr>
                        <a:t>DF</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nchor="b"/>
                </a:tc>
                <a:tc>
                  <a:txBody>
                    <a:bodyPr/>
                    <a:lstStyle/>
                    <a:p>
                      <a:pPr marL="0" marR="0" algn="ctr">
                        <a:lnSpc>
                          <a:spcPct val="107000"/>
                        </a:lnSpc>
                        <a:spcBef>
                          <a:spcPts val="450"/>
                        </a:spcBef>
                        <a:spcAft>
                          <a:spcPts val="0"/>
                        </a:spcAft>
                      </a:pPr>
                      <a:r>
                        <a:rPr lang="en-US" sz="1600" dirty="0">
                          <a:effectLst/>
                        </a:rPr>
                        <a:t>SS</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nchor="b"/>
                </a:tc>
                <a:tc>
                  <a:txBody>
                    <a:bodyPr/>
                    <a:lstStyle/>
                    <a:p>
                      <a:pPr marL="0" marR="0" algn="ctr">
                        <a:lnSpc>
                          <a:spcPct val="107000"/>
                        </a:lnSpc>
                        <a:spcBef>
                          <a:spcPts val="450"/>
                        </a:spcBef>
                        <a:spcAft>
                          <a:spcPts val="0"/>
                        </a:spcAft>
                      </a:pPr>
                      <a:r>
                        <a:rPr lang="en-US" sz="1600" dirty="0">
                          <a:effectLst/>
                        </a:rPr>
                        <a:t>MS</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nchor="b"/>
                </a:tc>
                <a:tc>
                  <a:txBody>
                    <a:bodyPr/>
                    <a:lstStyle/>
                    <a:p>
                      <a:pPr marL="0" marR="0" algn="ctr">
                        <a:lnSpc>
                          <a:spcPct val="107000"/>
                        </a:lnSpc>
                        <a:spcBef>
                          <a:spcPts val="450"/>
                        </a:spcBef>
                        <a:spcAft>
                          <a:spcPts val="0"/>
                        </a:spcAft>
                      </a:pPr>
                      <a:r>
                        <a:rPr lang="en-US" sz="1600" dirty="0">
                          <a:effectLst/>
                        </a:rPr>
                        <a:t>F-Value</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nchor="b"/>
                </a:tc>
                <a:tc>
                  <a:txBody>
                    <a:bodyPr/>
                    <a:lstStyle/>
                    <a:p>
                      <a:pPr marL="0" marR="0" algn="ctr">
                        <a:lnSpc>
                          <a:spcPct val="107000"/>
                        </a:lnSpc>
                        <a:spcBef>
                          <a:spcPts val="450"/>
                        </a:spcBef>
                        <a:spcAft>
                          <a:spcPts val="0"/>
                        </a:spcAft>
                      </a:pPr>
                      <a:r>
                        <a:rPr lang="en-US" sz="1600" dirty="0">
                          <a:effectLst/>
                        </a:rPr>
                        <a:t>P-Value</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nchor="b"/>
                </a:tc>
                <a:extLst>
                  <a:ext uri="{0D108BD9-81ED-4DB2-BD59-A6C34878D82A}">
                    <a16:rowId xmlns:a16="http://schemas.microsoft.com/office/drawing/2014/main" val="3227771388"/>
                  </a:ext>
                </a:extLst>
              </a:tr>
              <a:tr h="267273">
                <a:tc>
                  <a:txBody>
                    <a:bodyPr/>
                    <a:lstStyle/>
                    <a:p>
                      <a:pPr marL="0" marR="0">
                        <a:lnSpc>
                          <a:spcPct val="107000"/>
                        </a:lnSpc>
                        <a:spcBef>
                          <a:spcPts val="450"/>
                        </a:spcBef>
                        <a:spcAft>
                          <a:spcPts val="0"/>
                        </a:spcAft>
                      </a:pPr>
                      <a:r>
                        <a:rPr lang="en-US" sz="1600" dirty="0">
                          <a:effectLst/>
                        </a:rPr>
                        <a:t>  Factor 1_Plant Name</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600" dirty="0">
                          <a:effectLst/>
                        </a:rPr>
                        <a:t>4</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600" dirty="0">
                          <a:effectLst/>
                        </a:rPr>
                        <a:t>103787672</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600" dirty="0">
                          <a:effectLst/>
                        </a:rPr>
                        <a:t>25946918</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600" dirty="0">
                          <a:effectLst/>
                        </a:rPr>
                        <a:t>143.44</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600" dirty="0">
                          <a:effectLst/>
                        </a:rPr>
                        <a:t>0.000</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extLst>
                  <a:ext uri="{0D108BD9-81ED-4DB2-BD59-A6C34878D82A}">
                    <a16:rowId xmlns:a16="http://schemas.microsoft.com/office/drawing/2014/main" val="4030187103"/>
                  </a:ext>
                </a:extLst>
              </a:tr>
              <a:tr h="267273">
                <a:tc>
                  <a:txBody>
                    <a:bodyPr/>
                    <a:lstStyle/>
                    <a:p>
                      <a:pPr marL="0" marR="0">
                        <a:lnSpc>
                          <a:spcPct val="107000"/>
                        </a:lnSpc>
                        <a:spcBef>
                          <a:spcPts val="450"/>
                        </a:spcBef>
                        <a:spcAft>
                          <a:spcPts val="0"/>
                        </a:spcAft>
                      </a:pPr>
                      <a:r>
                        <a:rPr lang="en-US" sz="1600" dirty="0">
                          <a:effectLst/>
                        </a:rPr>
                        <a:t>  Factor 2_Fertilizer Content</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600" dirty="0">
                          <a:effectLst/>
                        </a:rPr>
                        <a:t>1</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600" dirty="0">
                          <a:effectLst/>
                        </a:rPr>
                        <a:t>9681432</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600" dirty="0">
                          <a:effectLst/>
                        </a:rPr>
                        <a:t>9681432</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600" dirty="0">
                          <a:effectLst/>
                        </a:rPr>
                        <a:t>53.52</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600" dirty="0">
                          <a:effectLst/>
                        </a:rPr>
                        <a:t>0.000</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extLst>
                  <a:ext uri="{0D108BD9-81ED-4DB2-BD59-A6C34878D82A}">
                    <a16:rowId xmlns:a16="http://schemas.microsoft.com/office/drawing/2014/main" val="2090070647"/>
                  </a:ext>
                </a:extLst>
              </a:tr>
              <a:tr h="913508">
                <a:tc>
                  <a:txBody>
                    <a:bodyPr/>
                    <a:lstStyle/>
                    <a:p>
                      <a:pPr marL="0" marR="0">
                        <a:lnSpc>
                          <a:spcPct val="107000"/>
                        </a:lnSpc>
                        <a:spcBef>
                          <a:spcPts val="450"/>
                        </a:spcBef>
                        <a:spcAft>
                          <a:spcPts val="0"/>
                        </a:spcAft>
                      </a:pPr>
                      <a:r>
                        <a:rPr lang="en-US" sz="1600" dirty="0">
                          <a:effectLst/>
                        </a:rPr>
                        <a:t>Error</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p>
                      <a:pPr marL="0" marR="0">
                        <a:lnSpc>
                          <a:spcPct val="107000"/>
                        </a:lnSpc>
                        <a:spcBef>
                          <a:spcPts val="450"/>
                        </a:spcBef>
                        <a:spcAft>
                          <a:spcPts val="0"/>
                        </a:spcAft>
                      </a:pPr>
                      <a:r>
                        <a:rPr lang="en-US" sz="1600" dirty="0">
                          <a:effectLst/>
                        </a:rPr>
                        <a:t>  Lack-of-Fit</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p>
                      <a:pPr marL="0" marR="0">
                        <a:lnSpc>
                          <a:spcPct val="107000"/>
                        </a:lnSpc>
                        <a:spcBef>
                          <a:spcPts val="450"/>
                        </a:spcBef>
                        <a:spcAft>
                          <a:spcPts val="0"/>
                        </a:spcAft>
                      </a:pPr>
                      <a:r>
                        <a:rPr lang="en-US" sz="1600" dirty="0">
                          <a:effectLst/>
                        </a:rPr>
                        <a:t>  Pure Error</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600" dirty="0">
                          <a:effectLst/>
                        </a:rPr>
                        <a:t>394</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p>
                      <a:pPr marL="0" marR="0" algn="ctr">
                        <a:lnSpc>
                          <a:spcPct val="107000"/>
                        </a:lnSpc>
                        <a:spcBef>
                          <a:spcPts val="450"/>
                        </a:spcBef>
                        <a:spcAft>
                          <a:spcPts val="0"/>
                        </a:spcAft>
                      </a:pPr>
                      <a:r>
                        <a:rPr lang="en-US" sz="1600" dirty="0">
                          <a:effectLst/>
                        </a:rPr>
                        <a:t>4</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p>
                      <a:pPr marL="0" marR="0" algn="ctr">
                        <a:lnSpc>
                          <a:spcPct val="107000"/>
                        </a:lnSpc>
                        <a:spcBef>
                          <a:spcPts val="450"/>
                        </a:spcBef>
                        <a:spcAft>
                          <a:spcPts val="0"/>
                        </a:spcAft>
                      </a:pPr>
                      <a:r>
                        <a:rPr lang="en-US" sz="1600" dirty="0">
                          <a:effectLst/>
                        </a:rPr>
                        <a:t>390</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600" dirty="0">
                          <a:effectLst/>
                        </a:rPr>
                        <a:t>71270040</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p>
                      <a:pPr marL="0" marR="0" algn="ctr">
                        <a:lnSpc>
                          <a:spcPct val="107000"/>
                        </a:lnSpc>
                        <a:spcBef>
                          <a:spcPts val="450"/>
                        </a:spcBef>
                        <a:spcAft>
                          <a:spcPts val="0"/>
                        </a:spcAft>
                      </a:pPr>
                      <a:r>
                        <a:rPr lang="en-US" sz="1600" dirty="0">
                          <a:effectLst/>
                        </a:rPr>
                        <a:t>59697881</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p>
                      <a:pPr marL="0" marR="0" algn="ctr">
                        <a:lnSpc>
                          <a:spcPct val="107000"/>
                        </a:lnSpc>
                        <a:spcBef>
                          <a:spcPts val="450"/>
                        </a:spcBef>
                        <a:spcAft>
                          <a:spcPts val="0"/>
                        </a:spcAft>
                      </a:pPr>
                      <a:r>
                        <a:rPr lang="en-US" sz="1600" dirty="0">
                          <a:effectLst/>
                        </a:rPr>
                        <a:t>11572159</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600" dirty="0">
                          <a:effectLst/>
                        </a:rPr>
                        <a:t>180888</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p>
                      <a:pPr marL="0" marR="0" algn="ctr">
                        <a:lnSpc>
                          <a:spcPct val="107000"/>
                        </a:lnSpc>
                        <a:spcBef>
                          <a:spcPts val="450"/>
                        </a:spcBef>
                        <a:spcAft>
                          <a:spcPts val="0"/>
                        </a:spcAft>
                      </a:pPr>
                      <a:r>
                        <a:rPr lang="en-US" sz="1600" dirty="0">
                          <a:effectLst/>
                        </a:rPr>
                        <a:t>14924470</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p>
                      <a:pPr marL="0" marR="0" algn="ctr">
                        <a:lnSpc>
                          <a:spcPct val="107000"/>
                        </a:lnSpc>
                        <a:spcBef>
                          <a:spcPts val="450"/>
                        </a:spcBef>
                        <a:spcAft>
                          <a:spcPts val="0"/>
                        </a:spcAft>
                      </a:pPr>
                      <a:r>
                        <a:rPr lang="en-US" sz="1600" dirty="0">
                          <a:effectLst/>
                        </a:rPr>
                        <a:t>29672</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600" dirty="0">
                          <a:effectLst/>
                        </a:rPr>
                        <a:t>  </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p>
                      <a:pPr marL="0" marR="0" algn="ctr">
                        <a:lnSpc>
                          <a:spcPct val="107000"/>
                        </a:lnSpc>
                        <a:spcBef>
                          <a:spcPts val="450"/>
                        </a:spcBef>
                        <a:spcAft>
                          <a:spcPts val="0"/>
                        </a:spcAft>
                      </a:pPr>
                      <a:r>
                        <a:rPr lang="en-US" sz="1600" dirty="0">
                          <a:effectLst/>
                        </a:rPr>
                        <a:t>502.98</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p>
                      <a:pPr marL="0" marR="0" algn="ctr">
                        <a:lnSpc>
                          <a:spcPct val="107000"/>
                        </a:lnSpc>
                        <a:spcBef>
                          <a:spcPts val="450"/>
                        </a:spcBef>
                        <a:spcAft>
                          <a:spcPts val="0"/>
                        </a:spcAft>
                      </a:pPr>
                      <a:r>
                        <a:rPr lang="en-US" sz="1600" dirty="0">
                          <a:effectLst/>
                        </a:rPr>
                        <a:t>  </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600" dirty="0">
                          <a:effectLst/>
                        </a:rPr>
                        <a:t>  </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p>
                      <a:pPr marL="0" marR="0" algn="ctr">
                        <a:lnSpc>
                          <a:spcPct val="107000"/>
                        </a:lnSpc>
                        <a:spcBef>
                          <a:spcPts val="450"/>
                        </a:spcBef>
                        <a:spcAft>
                          <a:spcPts val="0"/>
                        </a:spcAft>
                      </a:pPr>
                      <a:r>
                        <a:rPr lang="en-US" sz="1600" dirty="0">
                          <a:effectLst/>
                        </a:rPr>
                        <a:t>0.000</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p>
                      <a:pPr marL="0" marR="0" algn="ctr">
                        <a:lnSpc>
                          <a:spcPct val="107000"/>
                        </a:lnSpc>
                        <a:spcBef>
                          <a:spcPts val="450"/>
                        </a:spcBef>
                        <a:spcAft>
                          <a:spcPts val="0"/>
                        </a:spcAft>
                      </a:pPr>
                      <a:r>
                        <a:rPr lang="en-US" sz="1600" dirty="0">
                          <a:effectLst/>
                        </a:rPr>
                        <a:t>  </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extLst>
                  <a:ext uri="{0D108BD9-81ED-4DB2-BD59-A6C34878D82A}">
                    <a16:rowId xmlns:a16="http://schemas.microsoft.com/office/drawing/2014/main" val="4006347708"/>
                  </a:ext>
                </a:extLst>
              </a:tr>
              <a:tr h="267273">
                <a:tc>
                  <a:txBody>
                    <a:bodyPr/>
                    <a:lstStyle/>
                    <a:p>
                      <a:pPr marL="0" marR="0">
                        <a:lnSpc>
                          <a:spcPct val="107000"/>
                        </a:lnSpc>
                        <a:spcBef>
                          <a:spcPts val="450"/>
                        </a:spcBef>
                        <a:spcAft>
                          <a:spcPts val="0"/>
                        </a:spcAft>
                      </a:pPr>
                      <a:r>
                        <a:rPr lang="en-US" sz="1600" dirty="0">
                          <a:effectLst/>
                        </a:rPr>
                        <a:t>Total</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600" dirty="0">
                          <a:effectLst/>
                        </a:rPr>
                        <a:t>399</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600" dirty="0">
                          <a:effectLst/>
                        </a:rPr>
                        <a:t>184739144</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600" dirty="0">
                          <a:effectLst/>
                        </a:rPr>
                        <a:t>  </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600" dirty="0">
                          <a:effectLst/>
                        </a:rPr>
                        <a:t>  </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tc>
                  <a:txBody>
                    <a:bodyPr/>
                    <a:lstStyle/>
                    <a:p>
                      <a:pPr marL="0" marR="0" algn="ctr">
                        <a:lnSpc>
                          <a:spcPct val="107000"/>
                        </a:lnSpc>
                        <a:spcBef>
                          <a:spcPts val="450"/>
                        </a:spcBef>
                        <a:spcAft>
                          <a:spcPts val="0"/>
                        </a:spcAft>
                      </a:pPr>
                      <a:r>
                        <a:rPr lang="en-US" sz="1600" dirty="0">
                          <a:effectLst/>
                        </a:rPr>
                        <a:t>  </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6675" marR="66675" marT="9525" marB="9525"/>
                </a:tc>
                <a:extLst>
                  <a:ext uri="{0D108BD9-81ED-4DB2-BD59-A6C34878D82A}">
                    <a16:rowId xmlns:a16="http://schemas.microsoft.com/office/drawing/2014/main" val="2806165743"/>
                  </a:ext>
                </a:extLst>
              </a:tr>
            </a:tbl>
          </a:graphicData>
        </a:graphic>
      </p:graphicFrame>
      <p:sp>
        <p:nvSpPr>
          <p:cNvPr id="6" name="TextBox 5">
            <a:extLst>
              <a:ext uri="{FF2B5EF4-FFF2-40B4-BE49-F238E27FC236}">
                <a16:creationId xmlns:a16="http://schemas.microsoft.com/office/drawing/2014/main" id="{08517A4F-15A2-4875-AB21-3E803DE697EC}"/>
              </a:ext>
            </a:extLst>
          </p:cNvPr>
          <p:cNvSpPr txBox="1"/>
          <p:nvPr/>
        </p:nvSpPr>
        <p:spPr>
          <a:xfrm>
            <a:off x="7188591" y="3492803"/>
            <a:ext cx="4839285" cy="2677656"/>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Factor 1</a:t>
            </a:r>
            <a:r>
              <a:rPr lang="en-US" sz="1400" dirty="0">
                <a:latin typeface="Times New Roman" panose="02020603050405020304" pitchFamily="18" charset="0"/>
                <a:cs typeface="Times New Roman" panose="02020603050405020304" pitchFamily="18" charset="0"/>
              </a:rPr>
              <a:t> –  F </a:t>
            </a:r>
            <a:r>
              <a:rPr lang="en-US" sz="1400" baseline="-25000" dirty="0">
                <a:latin typeface="Times New Roman" panose="02020603050405020304" pitchFamily="18" charset="0"/>
                <a:cs typeface="Times New Roman" panose="02020603050405020304" pitchFamily="18" charset="0"/>
              </a:rPr>
              <a:t>0.05,4,390</a:t>
            </a:r>
            <a:r>
              <a:rPr lang="en-US" sz="1400" dirty="0">
                <a:latin typeface="Times New Roman" panose="02020603050405020304" pitchFamily="18" charset="0"/>
                <a:cs typeface="Times New Roman" panose="02020603050405020304" pitchFamily="18" charset="0"/>
              </a:rPr>
              <a:t> = 2.37   F</a:t>
            </a:r>
            <a:r>
              <a:rPr lang="en-US" sz="1400" baseline="-25000" dirty="0">
                <a:latin typeface="Times New Roman" panose="02020603050405020304" pitchFamily="18" charset="0"/>
                <a:cs typeface="Times New Roman" panose="02020603050405020304" pitchFamily="18" charset="0"/>
              </a:rPr>
              <a:t>0</a:t>
            </a:r>
            <a:r>
              <a:rPr lang="en-US" sz="1400" dirty="0">
                <a:latin typeface="Times New Roman" panose="02020603050405020304" pitchFamily="18" charset="0"/>
                <a:cs typeface="Times New Roman" panose="02020603050405020304" pitchFamily="18" charset="0"/>
              </a:rPr>
              <a:t> =  143.44 –--&gt;  F</a:t>
            </a:r>
            <a:r>
              <a:rPr lang="en-US" sz="1400" baseline="-25000" dirty="0">
                <a:latin typeface="Times New Roman" panose="02020603050405020304" pitchFamily="18" charset="0"/>
                <a:cs typeface="Times New Roman" panose="02020603050405020304" pitchFamily="18" charset="0"/>
              </a:rPr>
              <a:t>0 </a:t>
            </a:r>
            <a:r>
              <a:rPr lang="en-US" sz="1400" dirty="0">
                <a:latin typeface="Times New Roman" panose="02020603050405020304" pitchFamily="18" charset="0"/>
                <a:cs typeface="Times New Roman" panose="02020603050405020304" pitchFamily="18" charset="0"/>
              </a:rPr>
              <a:t>&gt; F </a:t>
            </a:r>
            <a:r>
              <a:rPr lang="en-US" sz="1400" baseline="-25000" dirty="0">
                <a:latin typeface="Times New Roman" panose="02020603050405020304" pitchFamily="18" charset="0"/>
                <a:cs typeface="Times New Roman" panose="02020603050405020304" pitchFamily="18" charset="0"/>
              </a:rPr>
              <a:t>0.05,4,390</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So </a:t>
            </a:r>
            <a:r>
              <a:rPr lang="en-US" sz="1400" b="1" dirty="0">
                <a:latin typeface="Times New Roman" panose="02020603050405020304" pitchFamily="18" charset="0"/>
                <a:cs typeface="Times New Roman" panose="02020603050405020304" pitchFamily="18" charset="0"/>
              </a:rPr>
              <a:t>Factor 1</a:t>
            </a:r>
            <a:r>
              <a:rPr lang="en-US" sz="1400" dirty="0">
                <a:latin typeface="Times New Roman" panose="02020603050405020304" pitchFamily="18" charset="0"/>
                <a:cs typeface="Times New Roman" panose="02020603050405020304" pitchFamily="18" charset="0"/>
              </a:rPr>
              <a:t> has significant effect on our Responses. </a:t>
            </a:r>
          </a:p>
          <a:p>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Factor 2</a:t>
            </a:r>
            <a:r>
              <a:rPr lang="en-US" sz="1400" dirty="0">
                <a:latin typeface="Times New Roman" panose="02020603050405020304" pitchFamily="18" charset="0"/>
                <a:cs typeface="Times New Roman" panose="02020603050405020304" pitchFamily="18" charset="0"/>
              </a:rPr>
              <a:t> –  F </a:t>
            </a:r>
            <a:r>
              <a:rPr lang="en-US" sz="1400" baseline="-25000" dirty="0">
                <a:latin typeface="Times New Roman" panose="02020603050405020304" pitchFamily="18" charset="0"/>
                <a:cs typeface="Times New Roman" panose="02020603050405020304" pitchFamily="18" charset="0"/>
              </a:rPr>
              <a:t>0.05,1,390</a:t>
            </a:r>
            <a:r>
              <a:rPr lang="en-US" sz="1400" dirty="0">
                <a:latin typeface="Times New Roman" panose="02020603050405020304" pitchFamily="18" charset="0"/>
                <a:cs typeface="Times New Roman" panose="02020603050405020304" pitchFamily="18" charset="0"/>
              </a:rPr>
              <a:t>  =  3.84  </a:t>
            </a:r>
            <a:r>
              <a:rPr lang="en-US" sz="1400" b="1" dirty="0">
                <a:latin typeface="Times New Roman" panose="02020603050405020304" pitchFamily="18" charset="0"/>
                <a:cs typeface="Times New Roman" panose="02020603050405020304" pitchFamily="18" charset="0"/>
              </a:rPr>
              <a:t>F </a:t>
            </a:r>
            <a:r>
              <a:rPr lang="en-US" sz="1400" b="1" baseline="-25000" dirty="0">
                <a:latin typeface="Times New Roman" panose="02020603050405020304" pitchFamily="18" charset="0"/>
                <a:cs typeface="Times New Roman" panose="02020603050405020304" pitchFamily="18" charset="0"/>
              </a:rPr>
              <a:t>0 </a:t>
            </a:r>
            <a:r>
              <a:rPr lang="en-US" sz="1400" b="1" dirty="0">
                <a:latin typeface="Times New Roman" panose="02020603050405020304" pitchFamily="18" charset="0"/>
                <a:cs typeface="Times New Roman" panose="02020603050405020304" pitchFamily="18" charset="0"/>
              </a:rPr>
              <a:t>= 53.52  </a:t>
            </a:r>
            <a:r>
              <a:rPr lang="en-US" sz="1400" dirty="0">
                <a:latin typeface="Times New Roman" panose="02020603050405020304" pitchFamily="18" charset="0"/>
                <a:cs typeface="Times New Roman" panose="02020603050405020304" pitchFamily="18" charset="0"/>
              </a:rPr>
              <a:t>–--&gt;  F</a:t>
            </a:r>
            <a:r>
              <a:rPr lang="en-US" sz="1400" baseline="-25000" dirty="0">
                <a:latin typeface="Times New Roman" panose="02020603050405020304" pitchFamily="18" charset="0"/>
                <a:cs typeface="Times New Roman" panose="02020603050405020304" pitchFamily="18" charset="0"/>
              </a:rPr>
              <a:t>0 </a:t>
            </a:r>
            <a:r>
              <a:rPr lang="en-US" sz="1400" dirty="0">
                <a:latin typeface="Times New Roman" panose="02020603050405020304" pitchFamily="18" charset="0"/>
                <a:cs typeface="Times New Roman" panose="02020603050405020304" pitchFamily="18" charset="0"/>
              </a:rPr>
              <a:t>&gt; F </a:t>
            </a:r>
            <a:r>
              <a:rPr lang="en-US" sz="1400" baseline="-25000" dirty="0">
                <a:latin typeface="Times New Roman" panose="02020603050405020304" pitchFamily="18" charset="0"/>
                <a:cs typeface="Times New Roman" panose="02020603050405020304" pitchFamily="18" charset="0"/>
              </a:rPr>
              <a:t>0.05,1,390</a:t>
            </a:r>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So </a:t>
            </a:r>
            <a:r>
              <a:rPr lang="en-US" sz="1400" b="1" dirty="0">
                <a:latin typeface="Times New Roman" panose="02020603050405020304" pitchFamily="18" charset="0"/>
                <a:cs typeface="Times New Roman" panose="02020603050405020304" pitchFamily="18" charset="0"/>
              </a:rPr>
              <a:t>Factor 2</a:t>
            </a:r>
            <a:r>
              <a:rPr lang="en-US" sz="1400" dirty="0">
                <a:latin typeface="Times New Roman" panose="02020603050405020304" pitchFamily="18" charset="0"/>
                <a:cs typeface="Times New Roman" panose="02020603050405020304" pitchFamily="18" charset="0"/>
              </a:rPr>
              <a:t> has significant effect on our Responses.</a:t>
            </a:r>
          </a:p>
          <a:p>
            <a:r>
              <a:rPr lang="en-US" sz="1400" dirty="0">
                <a:latin typeface="Times New Roman" panose="02020603050405020304" pitchFamily="18" charset="0"/>
                <a:cs typeface="Times New Roman" panose="02020603050405020304" pitchFamily="18" charset="0"/>
              </a:rPr>
              <a:t> </a:t>
            </a:r>
          </a:p>
          <a:p>
            <a:r>
              <a:rPr lang="en-US" sz="1400" b="1" dirty="0">
                <a:latin typeface="Times New Roman" panose="02020603050405020304" pitchFamily="18" charset="0"/>
                <a:cs typeface="Times New Roman" panose="02020603050405020304" pitchFamily="18" charset="0"/>
              </a:rPr>
              <a:t>Interaction --  </a:t>
            </a:r>
            <a:r>
              <a:rPr lang="en-US" sz="1400" dirty="0">
                <a:latin typeface="Times New Roman" panose="02020603050405020304" pitchFamily="18" charset="0"/>
                <a:cs typeface="Times New Roman" panose="02020603050405020304" pitchFamily="18" charset="0"/>
              </a:rPr>
              <a:t>F </a:t>
            </a:r>
            <a:r>
              <a:rPr lang="en-US" sz="1400" baseline="-25000" dirty="0">
                <a:latin typeface="Times New Roman" panose="02020603050405020304" pitchFamily="18" charset="0"/>
                <a:cs typeface="Times New Roman" panose="02020603050405020304" pitchFamily="18" charset="0"/>
              </a:rPr>
              <a:t>0.05,4,390</a:t>
            </a:r>
            <a:r>
              <a:rPr lang="en-US" sz="1400" dirty="0">
                <a:latin typeface="Times New Roman" panose="02020603050405020304" pitchFamily="18" charset="0"/>
                <a:cs typeface="Times New Roman" panose="02020603050405020304" pitchFamily="18" charset="0"/>
              </a:rPr>
              <a:t>  = 2.37  </a:t>
            </a:r>
            <a:r>
              <a:rPr lang="en-US" sz="1400" b="1" dirty="0">
                <a:latin typeface="Times New Roman" panose="02020603050405020304" pitchFamily="18" charset="0"/>
                <a:cs typeface="Times New Roman" panose="02020603050405020304" pitchFamily="18" charset="0"/>
              </a:rPr>
              <a:t>F</a:t>
            </a:r>
            <a:r>
              <a:rPr lang="en-US" sz="1400" b="1" baseline="-25000" dirty="0">
                <a:latin typeface="Times New Roman" panose="02020603050405020304" pitchFamily="18" charset="0"/>
                <a:cs typeface="Times New Roman" panose="02020603050405020304" pitchFamily="18" charset="0"/>
              </a:rPr>
              <a:t>0</a:t>
            </a:r>
            <a:r>
              <a:rPr lang="en-US" sz="1400" b="1" dirty="0">
                <a:latin typeface="Times New Roman" panose="02020603050405020304" pitchFamily="18" charset="0"/>
                <a:cs typeface="Times New Roman" panose="02020603050405020304" pitchFamily="18" charset="0"/>
              </a:rPr>
              <a:t> = 502.98 </a:t>
            </a:r>
            <a:r>
              <a:rPr lang="en-US" sz="1400" dirty="0">
                <a:latin typeface="Times New Roman" panose="02020603050405020304" pitchFamily="18" charset="0"/>
                <a:cs typeface="Times New Roman" panose="02020603050405020304" pitchFamily="18" charset="0"/>
              </a:rPr>
              <a:t>–--&gt;  F</a:t>
            </a:r>
            <a:r>
              <a:rPr lang="en-US" sz="1400" baseline="-25000" dirty="0">
                <a:latin typeface="Times New Roman" panose="02020603050405020304" pitchFamily="18" charset="0"/>
                <a:cs typeface="Times New Roman" panose="02020603050405020304" pitchFamily="18" charset="0"/>
              </a:rPr>
              <a:t>0 </a:t>
            </a:r>
            <a:r>
              <a:rPr lang="en-US" sz="1400" dirty="0">
                <a:latin typeface="Times New Roman" panose="02020603050405020304" pitchFamily="18" charset="0"/>
                <a:cs typeface="Times New Roman" panose="02020603050405020304" pitchFamily="18" charset="0"/>
              </a:rPr>
              <a:t>&gt; F </a:t>
            </a:r>
            <a:r>
              <a:rPr lang="en-US" sz="1400" baseline="-25000" dirty="0">
                <a:latin typeface="Times New Roman" panose="02020603050405020304" pitchFamily="18" charset="0"/>
                <a:cs typeface="Times New Roman" panose="02020603050405020304" pitchFamily="18" charset="0"/>
              </a:rPr>
              <a:t>0.05,4,390</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So </a:t>
            </a:r>
            <a:r>
              <a:rPr lang="en-US" sz="1400" b="1" dirty="0">
                <a:latin typeface="Times New Roman" panose="02020603050405020304" pitchFamily="18" charset="0"/>
                <a:cs typeface="Times New Roman" panose="02020603050405020304" pitchFamily="18" charset="0"/>
              </a:rPr>
              <a:t>Interaction</a:t>
            </a:r>
            <a:r>
              <a:rPr lang="en-US" sz="1400" dirty="0">
                <a:latin typeface="Times New Roman" panose="02020603050405020304" pitchFamily="18" charset="0"/>
                <a:cs typeface="Times New Roman" panose="02020603050405020304" pitchFamily="18" charset="0"/>
              </a:rPr>
              <a:t> has significant effect on our Responses. </a:t>
            </a:r>
          </a:p>
          <a:p>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552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30CEE-697A-483A-A475-1370C9AC9438}"/>
              </a:ext>
            </a:extLst>
          </p:cNvPr>
          <p:cNvSpPr>
            <a:spLocks noGrp="1"/>
          </p:cNvSpPr>
          <p:nvPr>
            <p:ph type="title"/>
          </p:nvPr>
        </p:nvSpPr>
        <p:spPr/>
        <p:txBody>
          <a:bodyPr/>
          <a:lstStyle/>
          <a:p>
            <a:r>
              <a:rPr lang="en-US" dirty="0"/>
              <a:t>Conclusion	</a:t>
            </a:r>
          </a:p>
        </p:txBody>
      </p:sp>
      <p:sp>
        <p:nvSpPr>
          <p:cNvPr id="3" name="Content Placeholder 2">
            <a:extLst>
              <a:ext uri="{FF2B5EF4-FFF2-40B4-BE49-F238E27FC236}">
                <a16:creationId xmlns:a16="http://schemas.microsoft.com/office/drawing/2014/main" id="{304EDBAF-D90E-4A7F-A1BA-CA1DBF30BF62}"/>
              </a:ext>
            </a:extLst>
          </p:cNvPr>
          <p:cNvSpPr>
            <a:spLocks noGrp="1"/>
          </p:cNvSpPr>
          <p:nvPr>
            <p:ph idx="1"/>
          </p:nvPr>
        </p:nvSpPr>
        <p:spPr>
          <a:xfrm>
            <a:off x="1097280" y="2113612"/>
            <a:ext cx="10058400" cy="3755481"/>
          </a:xfrm>
        </p:spPr>
        <p:txBody>
          <a:bodyPr/>
          <a:lstStyle/>
          <a:p>
            <a:pPr marL="0" lvl="0" indent="0">
              <a:buNone/>
            </a:pPr>
            <a:r>
              <a:rPr lang="en-US" dirty="0" err="1"/>
              <a:t>Boxpolts</a:t>
            </a:r>
            <a:r>
              <a:rPr lang="en-US" dirty="0"/>
              <a:t>, Histogram and probability plot gave us the spread of the data about median, outliers, mean, Normality. </a:t>
            </a:r>
          </a:p>
          <a:p>
            <a:pPr marL="0" lvl="0" indent="0">
              <a:buNone/>
            </a:pPr>
            <a:r>
              <a:rPr lang="en-US" dirty="0"/>
              <a:t>From the hypotheses we conclude that mean contain of potash and phosphate is equal for Corn and cotton but their spread about mean </a:t>
            </a:r>
            <a:r>
              <a:rPr lang="en-US" dirty="0" err="1"/>
              <a:t>i.e</a:t>
            </a:r>
            <a:r>
              <a:rPr lang="en-US" dirty="0"/>
              <a:t> variance is different.</a:t>
            </a:r>
          </a:p>
          <a:p>
            <a:pPr marL="0" lvl="0" indent="0">
              <a:buNone/>
            </a:pPr>
            <a:r>
              <a:rPr lang="en-US" dirty="0"/>
              <a:t>From the regression we conclude that there is a relation between Nitrogen (dependent) and Potash, Phosphate (independent) contain in the fertilizer.</a:t>
            </a:r>
          </a:p>
          <a:p>
            <a:pPr marL="0" lvl="0" indent="0">
              <a:buNone/>
            </a:pPr>
            <a:r>
              <a:rPr lang="en-US" dirty="0"/>
              <a:t>We observed that each factor is affecting the responses and the interaction of two factors (Crops and Fertilizers) is significant and affects the responses.</a:t>
            </a:r>
          </a:p>
          <a:p>
            <a:pPr marL="0" indent="0">
              <a:buNone/>
            </a:pPr>
            <a:endParaRPr lang="en-US" dirty="0"/>
          </a:p>
        </p:txBody>
      </p:sp>
    </p:spTree>
    <p:extLst>
      <p:ext uri="{BB962C8B-B14F-4D97-AF65-F5344CB8AC3E}">
        <p14:creationId xmlns:p14="http://schemas.microsoft.com/office/powerpoint/2010/main" val="954562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Reference </a:t>
            </a:r>
          </a:p>
        </p:txBody>
      </p:sp>
      <p:sp>
        <p:nvSpPr>
          <p:cNvPr id="3" name="Content Placeholder 2"/>
          <p:cNvSpPr>
            <a:spLocks noGrp="1"/>
          </p:cNvSpPr>
          <p:nvPr>
            <p:ph idx="1"/>
          </p:nvPr>
        </p:nvSpPr>
        <p:spPr>
          <a:xfrm>
            <a:off x="1209821" y="2155223"/>
            <a:ext cx="10058400" cy="4023360"/>
          </a:xfrm>
        </p:spPr>
        <p:txBody>
          <a:bodyPr>
            <a:normAutofit/>
          </a:bodyPr>
          <a:lstStyle/>
          <a:p>
            <a:pPr>
              <a:buFont typeface="Wingdings" panose="05000000000000000000" pitchFamily="2" charset="2"/>
              <a:buChar char="Ø"/>
            </a:pPr>
            <a:r>
              <a:rPr lang="en-IN" u="sng" dirty="0">
                <a:hlinkClick r:id="rId2"/>
              </a:rPr>
              <a:t>https://www.data.gov</a:t>
            </a:r>
            <a:r>
              <a:rPr lang="en-IN" dirty="0"/>
              <a:t> </a:t>
            </a:r>
          </a:p>
          <a:p>
            <a:pPr>
              <a:buFont typeface="Wingdings" panose="05000000000000000000" pitchFamily="2" charset="2"/>
              <a:buChar char="Ø"/>
            </a:pPr>
            <a:r>
              <a:rPr lang="en-US" u="sng" dirty="0">
                <a:hlinkClick r:id="rId3"/>
              </a:rPr>
              <a:t>https://www.ers.usda.gov/data-products/fertilizer-use-and-price.aspx</a:t>
            </a:r>
            <a:r>
              <a:rPr lang="en-US" dirty="0"/>
              <a:t> </a:t>
            </a:r>
          </a:p>
          <a:p>
            <a:pPr>
              <a:buFont typeface="Wingdings" panose="05000000000000000000" pitchFamily="2" charset="2"/>
              <a:buChar char="Ø"/>
            </a:pPr>
            <a:r>
              <a:rPr lang="en-US" u="sng" dirty="0">
                <a:hlinkClick r:id="rId4"/>
              </a:rPr>
              <a:t>https://support.minitab.com/en-us/minitab/18/help-and-how-to/modeling-statistics/regression/supporting-topics/model-assumptions/unusual-observations/</a:t>
            </a:r>
            <a:endParaRPr lang="en-US" dirty="0"/>
          </a:p>
          <a:p>
            <a:pPr>
              <a:buFont typeface="Wingdings" panose="05000000000000000000" pitchFamily="2" charset="2"/>
              <a:buChar char="Ø"/>
            </a:pPr>
            <a:r>
              <a:rPr lang="en-US" u="sng" dirty="0">
                <a:hlinkClick r:id="rId5"/>
              </a:rPr>
              <a:t>https://support.minitab.com/en-us/minitab/19/help-and-how-to/modeling-statistics/regression/how-to/fit-regression-model/interpret-the-results/all-statistics-and-graphs/fits-and-diagnostics-table/</a:t>
            </a:r>
            <a:endParaRPr lang="en-US" dirty="0"/>
          </a:p>
          <a:p>
            <a:pPr>
              <a:buFont typeface="Wingdings" panose="05000000000000000000" pitchFamily="2" charset="2"/>
              <a:buChar char="Ø"/>
            </a:pPr>
            <a:r>
              <a:rPr lang="en-US" u="sng" dirty="0">
                <a:hlinkClick r:id="rId6"/>
              </a:rPr>
              <a:t>https://www.itl.nist.gov/div898/handbook/eda/section3/normprpl.htm#:~:targetText=The%20normal%20probability%20plot%20</a:t>
            </a:r>
            <a:endParaRPr lang="en-US" dirty="0"/>
          </a:p>
          <a:p>
            <a:pPr>
              <a:buFont typeface="Wingdings" panose="05000000000000000000" pitchFamily="2" charset="2"/>
              <a:buChar char="Ø"/>
            </a:pPr>
            <a:r>
              <a:rPr lang="en-US" u="sng" dirty="0">
                <a:hlinkClick r:id="rId7"/>
              </a:rPr>
              <a:t>https://statistics.laerd.com/statistical-guides/understanding-histograms.php</a:t>
            </a:r>
            <a:endParaRPr lang="en-IN" dirty="0"/>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2153004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029CF2-7ABF-4F1B-972C-A83DBAD044B5}"/>
              </a:ext>
            </a:extLst>
          </p:cNvPr>
          <p:cNvSpPr>
            <a:spLocks noGrp="1"/>
          </p:cNvSpPr>
          <p:nvPr>
            <p:ph idx="1"/>
          </p:nvPr>
        </p:nvSpPr>
        <p:spPr/>
        <p:txBody>
          <a:bodyPr>
            <a:normAutofit/>
          </a:bodyPr>
          <a:lstStyle/>
          <a:p>
            <a:pPr algn="ctr"/>
            <a:endParaRPr lang="en-US" sz="4800" dirty="0">
              <a:solidFill>
                <a:schemeClr val="tx1"/>
              </a:solidFill>
            </a:endParaRPr>
          </a:p>
          <a:p>
            <a:pPr algn="ctr"/>
            <a:r>
              <a:rPr lang="en-US" sz="4800" dirty="0">
                <a:solidFill>
                  <a:schemeClr val="tx1"/>
                </a:solidFill>
              </a:rPr>
              <a:t>Thank You</a:t>
            </a:r>
            <a:br>
              <a:rPr lang="en-US" sz="4800" dirty="0">
                <a:solidFill>
                  <a:schemeClr val="tx1"/>
                </a:solidFill>
              </a:rPr>
            </a:br>
            <a:r>
              <a:rPr lang="en-US" sz="4800" dirty="0">
                <a:solidFill>
                  <a:schemeClr val="tx1"/>
                </a:solidFill>
              </a:rPr>
              <a:t> Question and Answer?</a:t>
            </a:r>
          </a:p>
        </p:txBody>
      </p:sp>
    </p:spTree>
    <p:extLst>
      <p:ext uri="{BB962C8B-B14F-4D97-AF65-F5344CB8AC3E}">
        <p14:creationId xmlns:p14="http://schemas.microsoft.com/office/powerpoint/2010/main" val="278114439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1121</TotalTime>
  <Words>1185</Words>
  <Application>Microsoft Office PowerPoint</Application>
  <PresentationFormat>Widescreen</PresentationFormat>
  <Paragraphs>148</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Calibri</vt:lpstr>
      <vt:lpstr>Calibri Light</vt:lpstr>
      <vt:lpstr>Times New Roman</vt:lpstr>
      <vt:lpstr>Wingdings</vt:lpstr>
      <vt:lpstr>Retrospect</vt:lpstr>
      <vt:lpstr>Applied Engineering Statistics IE6210</vt:lpstr>
      <vt:lpstr>Introduction</vt:lpstr>
      <vt:lpstr>Motivation</vt:lpstr>
      <vt:lpstr>Problem Statement </vt:lpstr>
      <vt:lpstr> </vt:lpstr>
      <vt:lpstr>PowerPoint Presentation</vt:lpstr>
      <vt:lpstr>Hypothesis Test </vt:lpstr>
      <vt:lpstr>Regression</vt:lpstr>
      <vt:lpstr>ANOVA</vt:lpstr>
      <vt:lpstr>Conclusion </vt:lpstr>
      <vt:lpstr>Reference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Applied Engineering Statistics</dc:title>
  <dc:creator>Chaitanya Dixit</dc:creator>
  <cp:lastModifiedBy>rajratna patil</cp:lastModifiedBy>
  <cp:revision>37</cp:revision>
  <dcterms:created xsi:type="dcterms:W3CDTF">2019-12-03T01:59:21Z</dcterms:created>
  <dcterms:modified xsi:type="dcterms:W3CDTF">2019-12-04T01:12:01Z</dcterms:modified>
</cp:coreProperties>
</file>